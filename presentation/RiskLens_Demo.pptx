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4FD2B8"/>
                </a:solidFill>
                <a:latin typeface="Aptos"/>
              </a:defRPr>
            </a:pPr>
            <a:r>
              <a:t>RISK INTELLIGENCE /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1F6FC"/>
                </a:solidFill>
                <a:latin typeface="Aptos"/>
              </a:defRPr>
            </a:pPr>
            <a:r>
              <a:t>From market noise to portfolio stress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972800" cy="22860"/>
          </a:xfrm>
          <a:prstGeom prst="rect">
            <a:avLst/>
          </a:prstGeom>
          <a:solidFill>
            <a:srgbClr val="4FD2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6583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F1F6FC"/>
                </a:solidFill>
                <a:latin typeface="Aptos"/>
              </a:defRPr>
            </a:pPr>
            <a:r>
              <a:t>AI-powered Financial Risk Intelligence</a:t>
            </a:r>
          </a:p>
          <a:p>
            <a:pPr>
              <a:spcAft>
                <a:spcPts val="900"/>
              </a:spcAft>
              <a:defRPr sz="2700" b="1">
                <a:solidFill>
                  <a:srgbClr val="F1F6FC"/>
                </a:solidFill>
                <a:latin typeface="Aptos"/>
              </a:defRPr>
            </a:pPr>
            <a:r>
              <a:t>&amp; Portfolio Stress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6766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B1C2D7"/>
                </a:solidFill>
                <a:latin typeface="Aptos"/>
              </a:defRPr>
            </a:pPr>
            <a:r>
              <a:t>RiskLens converts headlines and social chatter into traceable risk signals, then tests a multi-asset portfolio against configurable shocks.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828800"/>
            <a:ext cx="3017520" cy="123444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993392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SIGNALS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2450592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Sentiment · Event · Impact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3337560"/>
            <a:ext cx="3017520" cy="123444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3502152"/>
            <a:ext cx="2688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STRESS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3959352"/>
            <a:ext cx="26883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Before/after P&amp;L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80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4FD2B8"/>
                </a:solidFill>
                <a:latin typeface="Aptos"/>
              </a:defRPr>
            </a:pPr>
            <a:r>
              <a:t>DEMO DATA AND POSITIONS ARE SYNTHETIC · NOT INVESTMENT ADVICE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4FD2B8"/>
                </a:solidFill>
                <a:latin typeface="Aptos"/>
              </a:defRPr>
            </a:pPr>
            <a:r>
              <a:t>RISK INTELLIGENCE /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1F6FC"/>
                </a:solidFill>
                <a:latin typeface="Aptos"/>
              </a:defRPr>
            </a:pPr>
            <a:r>
              <a:t>The workflow is designed to be inspectable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972800" cy="22860"/>
          </a:xfrm>
          <a:prstGeom prst="rect">
            <a:avLst/>
          </a:prstGeom>
          <a:solidFill>
            <a:srgbClr val="4FD2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011680" cy="192024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45059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01  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907792"/>
            <a:ext cx="16824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Bundled samples</a:t>
            </a:r>
          </a:p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RSS · CSV ·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3472" y="29718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4FD2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44368" y="2286000"/>
            <a:ext cx="2011680" cy="192024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45059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02  ANALYZE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907792"/>
            <a:ext cx="16824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FinBERT optional</a:t>
            </a:r>
          </a:p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lexicon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9718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4FD2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48656" y="2286000"/>
            <a:ext cx="2011680" cy="192024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3248" y="245059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03 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907792"/>
            <a:ext cx="16824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Event type</a:t>
            </a:r>
          </a:p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Impact 1–10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2048" y="29718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4FD2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52944" y="2286000"/>
            <a:ext cx="2011680" cy="192024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17536" y="245059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04  STRESS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17536" y="2907792"/>
            <a:ext cx="16824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Scenario shocks</a:t>
            </a:r>
          </a:p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Holdings P&amp;L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6336" y="29718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4FD2B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57232" y="2286000"/>
            <a:ext cx="2011680" cy="192024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1824" y="2450592"/>
            <a:ext cx="168249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05 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1824" y="2907792"/>
            <a:ext cx="168249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Streamlit + Plotly</a:t>
            </a:r>
          </a:p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SQLite + exports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B1C2D7"/>
                </a:solidFill>
                <a:latin typeface="Aptos"/>
              </a:defRPr>
            </a:pPr>
            <a:r>
              <a:t>Provenance labels and transparent assumptions keep the demo usable even when external APIs or model downloads fail.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4FD2B8"/>
                </a:solidFill>
                <a:latin typeface="Aptos"/>
              </a:defRPr>
            </a:pPr>
            <a:r>
              <a:t>RISK INTELLIGENCE /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1F6FC"/>
                </a:solidFill>
                <a:latin typeface="Aptos"/>
              </a:defRPr>
            </a:pPr>
            <a:r>
              <a:t>Architecture: local-first, modular, reproducible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972800" cy="22860"/>
          </a:xfrm>
          <a:prstGeom prst="rect">
            <a:avLst/>
          </a:prstGeom>
          <a:solidFill>
            <a:srgbClr val="4FD2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 b="1">
                <a:solidFill>
                  <a:srgbClr val="4FD2B8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94560"/>
            <a:ext cx="2377440" cy="96012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359152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Synthetic</a:t>
            </a:r>
          </a:p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Newswire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8163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3520439" y="2194560"/>
            <a:ext cx="2377440" cy="96012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85031" y="2359152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Synthetic</a:t>
            </a:r>
          </a:p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Social Pulse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1" y="28163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309359" y="2194560"/>
            <a:ext cx="2377440" cy="96012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1" y="2359152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Optional RSS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1" y="28163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9098280" y="2194560"/>
            <a:ext cx="2377440" cy="96012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62872" y="2359152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CSV /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2816352"/>
            <a:ext cx="20482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212080" y="3246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FD2B8"/>
                </a:solidFill>
                <a:latin typeface="Aptos"/>
              </a:defRPr>
            </a:pPr>
            <a:r>
              <a:t>↓ normalize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3657600"/>
            <a:ext cx="5943600" cy="96012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3552" y="3822191"/>
            <a:ext cx="56144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NLP RISK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4279392"/>
            <a:ext cx="56144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Sentiment · Event classification · Impact score · Risk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709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1">
                <a:solidFill>
                  <a:srgbClr val="4FD2B8"/>
                </a:solidFill>
                <a:latin typeface="Aptos"/>
              </a:defRPr>
            </a:pPr>
            <a:r>
              <a:t>↓ scenario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120640"/>
            <a:ext cx="4937760" cy="91440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285231"/>
            <a:ext cx="4608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STRESS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742431"/>
            <a:ext cx="460857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Portfolio valuation · Asset-class contributions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5120640"/>
            <a:ext cx="4937760" cy="91440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1" y="5285231"/>
            <a:ext cx="46085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APP + 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1" y="5742431"/>
            <a:ext cx="4608576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Streamlit · Plotly · SQLite · CSV/JSON exports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4FD2B8"/>
                </a:solidFill>
                <a:latin typeface="Aptos"/>
              </a:defRPr>
            </a:pPr>
            <a:r>
              <a:t>RISK INTELLIGENCE /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1F6FC"/>
                </a:solidFill>
                <a:latin typeface="Aptos"/>
              </a:defRPr>
            </a:pPr>
            <a:r>
              <a:t>NLP: useful signals, explicit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972800" cy="22860"/>
          </a:xfrm>
          <a:prstGeom prst="rect">
            <a:avLst/>
          </a:prstGeom>
          <a:solidFill>
            <a:srgbClr val="4FD2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214884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93392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SENTIMENT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50592"/>
            <a:ext cx="314553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Signed score in [-1, +1]</a:t>
            </a:r>
          </a:p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FinBERT optional; fallback is deterministic and local.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474720" cy="214884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993392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EVENT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450592"/>
            <a:ext cx="314553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Geopolitical · Macroeconomic</a:t>
            </a:r>
          </a:p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Credit · M&amp;A · Earnings</a:t>
            </a:r>
          </a:p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Regulatory · Liquidity · Cyber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828800"/>
            <a:ext cx="3474720" cy="214884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993392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IMPACT 1–10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450592"/>
            <a:ext cx="314553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Keyword-based severity proxy, not a calibrated forecast. Signals map to candidate stress scenarios.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B1C2D7"/>
                </a:solidFill>
                <a:latin typeface="Aptos"/>
              </a:defRPr>
            </a:pPr>
            <a:r>
              <a:t>Model availability is surfaced in each result. The fallback enables offline demos but is not a substitute for validated financial NLP.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4FD2B8"/>
                </a:solidFill>
                <a:latin typeface="Aptos"/>
              </a:defRPr>
            </a:pPr>
            <a:r>
              <a:t>RISK INTELLIGENCE /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1F6FC"/>
                </a:solidFill>
                <a:latin typeface="Aptos"/>
              </a:defRPr>
            </a:pPr>
            <a:r>
              <a:t>Stress lab: quantify scenario exposure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972800" cy="22860"/>
          </a:xfrm>
          <a:prstGeom prst="rect">
            <a:avLst/>
          </a:prstGeom>
          <a:solidFill>
            <a:srgbClr val="4FD2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29000" cy="182880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93392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50592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12 fictional holdings</a:t>
            </a:r>
          </a:p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Equities · Bonds · Loans · Derivatives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429000" cy="182880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993392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450592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Credit crisis · Rate shock</a:t>
            </a:r>
          </a:p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Geopolitical · Liquidity · Rebound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828800"/>
            <a:ext cx="3429000" cy="182880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993392"/>
            <a:ext cx="30998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450592"/>
            <a:ext cx="3099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Before/after value · P&amp;L</a:t>
            </a:r>
          </a:p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Asset-class attribution ·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8912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B1C2D7"/>
                </a:solidFill>
                <a:latin typeface="Aptos"/>
              </a:defRPr>
            </a:pPr>
            <a:r>
              <a:t>Illustrative class-level shocks are multiplied by a user-selected severity. Positions stay static; derivatives use simplified MTM proxies.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1">
                <a:solidFill>
                  <a:srgbClr val="4FD2B8"/>
                </a:solidFill>
                <a:latin typeface="Aptos"/>
              </a:defRPr>
            </a:pPr>
            <a:r>
              <a:t>RISK INTELLIGENCE /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3000" b="1">
                <a:solidFill>
                  <a:srgbClr val="F1F6FC"/>
                </a:solidFill>
                <a:latin typeface="Aptos"/>
              </a:defRPr>
            </a:pPr>
            <a:r>
              <a:t>Validation, limitations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10972800" cy="22860"/>
          </a:xfrm>
          <a:prstGeom prst="rect">
            <a:avLst/>
          </a:prstGeom>
          <a:solidFill>
            <a:srgbClr val="4FD2B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246888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93392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450592"/>
            <a:ext cx="31455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Automated tests cover NLP output bounds, event labels, portfolio valuation, zero-severity invariance and risk-signal mapping.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828800"/>
            <a:ext cx="3474720" cy="246888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993392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450592"/>
            <a:ext cx="31455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No historical calibration, dynamic hedging, transaction costs, loan recovery modeling, derivative Greeks or live-data guarantees.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828800"/>
            <a:ext cx="3474720" cy="2468880"/>
          </a:xfrm>
          <a:prstGeom prst="rect">
            <a:avLst/>
          </a:prstGeom>
          <a:solidFill>
            <a:srgbClr val="192B45"/>
          </a:solidFill>
          <a:ln>
            <a:solidFill>
              <a:srgbClr val="2B41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993392"/>
            <a:ext cx="3145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450592"/>
            <a:ext cx="314553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F1F6FC"/>
                </a:solidFill>
                <a:latin typeface="Aptos"/>
              </a:defRPr>
            </a:pPr>
            <a:r>
              <a:t>Calibrate shocks on historical data; benchmark NLP; add authenticated data vendors, model monitoring and audit controls.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0749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4FD2B8"/>
                </a:solidFill>
                <a:latin typeface="Aptos"/>
              </a:defRPr>
            </a:pPr>
            <a:r>
              <a:t>DEMO TAKEAWAY  ·  Traceable text signal → configurable scenario → transparent portfolio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
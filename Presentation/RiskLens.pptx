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P&amp;L (%)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B2A3B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Equities</c:v>
                </c:pt>
                <c:pt idx="1">
                  <c:v>Bonds</c:v>
                </c:pt>
                <c:pt idx="2">
                  <c:v>Loans</c:v>
                </c:pt>
                <c:pt idx="3">
                  <c:v>Derivatives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-12</c:v>
                </c:pt>
                <c:pt idx="1">
                  <c:v>-4</c:v>
                </c:pt>
                <c:pt idx="2">
                  <c:v>-9</c:v>
                </c:pt>
                <c:pt idx="3">
                  <c:v>-6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41-4A88-BF1F-6C59305DBC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high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"/>
          <c:min val="-15"/>
        </c:scaling>
        <c:delete val="0"/>
        <c:axPos val="l"/>
        <c:majorGridlines>
          <c:spPr>
            <a:ln w="6350" cap="flat">
              <a:solidFill>
                <a:srgbClr val="BCD9E3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F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1T08:18:22.217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10-11T08:18:31.378"/>
    </inkml:context>
    <inkml:brush xml:id="br0">
      <inkml:brushProperty name="width" value="0.35" units="cm"/>
      <inkml:brushProperty name="height" value="2.1" units="cm"/>
      <inkml:brushProperty name="color" value="#FFFFFF"/>
      <inkml:brushProperty name="ignorePressure" value="1"/>
      <inkml:brushProperty name="inkEffects" value="pencil"/>
    </inkml:brush>
  </inkml:definitions>
  <inkml:trace contextRef="#ctx0" brushRef="#br0">0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847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RiskLens turns unstructured market text into traceable risk signals and uses them to drive portfolio stress tests. All data is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text risk is fast and unstructured. RiskLens makes every step inspectable and ties it to portfolio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five stages left to right. Emphasise that each stage exposes its output so a reviewer can trace a stress result back to a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layers: NLP risk engine, stress engine, and the app/storage layer. Everything runs locally from synthetic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the impact score is a keyword severity proxy, not a forecast. The trace on the left is illustrative and uses a synthetic headline.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Shocks are illustrative and class-level. Severity scales them linearly; at zero severity the portfolio is unchanged (covered by tests). Chart values are illustrative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limitations; the roadmap addresses calibration, NLP benchmarking, data vendors and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one-line takeaway and restate that all data is synthetic.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74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1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891B2"/>
                </a:solidFill>
              </a:rPr>
              <a:t>RISK INTELLIGENCE / MVP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F6B7A"/>
                </a:solidFill>
              </a:rPr>
              <a:t>RiskLens  ·  Synthetic demo data  ·  Not investment advice</a:t>
            </a:r>
            <a:endParaRPr lang="en-US" sz="1100" dirty="0"/>
          </a:p>
        </p:txBody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0B2A3B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F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F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5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9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chart" Target="../charts/chart1.xml"/><Relationship Id="rId5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5F3FC"/>
                </a:solidFill>
              </a:rPr>
              <a:t>RISK INTELLIGENCE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From market noise to portfolio stress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154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A5F3FC"/>
                </a:solidFill>
              </a:rPr>
              <a:t>AI-powered Financial Risk Intelligence &amp; Portfolio Stress Testing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FEFF7"/>
                </a:solidFill>
              </a:rPr>
              <a:t>RiskLens converts headlines and social chatter into traceable risk signals, then tests a multi-asset portfolio against configurable shocks.</a:t>
            </a:r>
            <a:endParaRPr lang="en-US" sz="1600" dirty="0"/>
          </a:p>
        </p:txBody>
      </p:sp>
      <p:sp>
        <p:nvSpPr>
          <p:cNvPr id="6" name="signals-card"/>
          <p:cNvSpPr/>
          <p:nvPr/>
        </p:nvSpPr>
        <p:spPr>
          <a:xfrm>
            <a:off x="7772400" y="1097280"/>
            <a:ext cx="3749040" cy="1737360"/>
          </a:xfrm>
          <a:prstGeom prst="roundRect">
            <a:avLst>
              <a:gd name="adj" fmla="val 4211"/>
            </a:avLst>
          </a:prstGeom>
          <a:solidFill>
            <a:srgbClr val="0B5F78"/>
          </a:solidFill>
          <a:ln w="9525">
            <a:solidFill>
              <a:srgbClr val="2A8DA8"/>
            </a:solidFill>
            <a:prstDash val="solid"/>
          </a:ln>
        </p:spPr>
      </p:sp>
      <p:sp>
        <p:nvSpPr>
          <p:cNvPr id="7" name="icon-circle"/>
          <p:cNvSpPr/>
          <p:nvPr/>
        </p:nvSpPr>
        <p:spPr>
          <a:xfrm>
            <a:off x="8046720" y="1371600"/>
            <a:ext cx="502920" cy="502920"/>
          </a:xfrm>
          <a:prstGeom prst="ellipse">
            <a:avLst/>
          </a:prstGeom>
          <a:solidFill>
            <a:srgbClr val="0A4F66"/>
          </a:solidFill>
          <a:ln w="12700">
            <a:solidFill>
              <a:srgbClr val="A5F3FC"/>
            </a:solidFill>
            <a:prstDash val="solid"/>
          </a:ln>
        </p:spPr>
      </p:sp>
      <p:pic>
        <p:nvPicPr>
          <p:cNvPr id="8" name="Image 0" descr="new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479" y="1502359"/>
            <a:ext cx="241402" cy="2414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73252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F3FC"/>
                </a:solidFill>
              </a:rPr>
              <a:t>SIGNALS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732520" y="1691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Sentiment · Event · Impact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2194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FF7"/>
                </a:solidFill>
              </a:rPr>
              <a:t>Text turned into structured, traceable risk signals</a:t>
            </a:r>
            <a:endParaRPr lang="en-US" sz="1400" dirty="0"/>
          </a:p>
        </p:txBody>
      </p:sp>
      <p:pic>
        <p:nvPicPr>
          <p:cNvPr id="12" name="Image 1" descr="arrow dow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926080"/>
            <a:ext cx="320040" cy="320040"/>
          </a:xfrm>
          <a:prstGeom prst="rect">
            <a:avLst/>
          </a:prstGeom>
        </p:spPr>
      </p:pic>
      <p:sp>
        <p:nvSpPr>
          <p:cNvPr id="13" name="stress-card"/>
          <p:cNvSpPr/>
          <p:nvPr/>
        </p:nvSpPr>
        <p:spPr>
          <a:xfrm>
            <a:off x="7772400" y="3337560"/>
            <a:ext cx="3749040" cy="1737360"/>
          </a:xfrm>
          <a:prstGeom prst="roundRect">
            <a:avLst>
              <a:gd name="adj" fmla="val 4211"/>
            </a:avLst>
          </a:prstGeom>
          <a:solidFill>
            <a:srgbClr val="0B5F78"/>
          </a:solidFill>
          <a:ln w="9525">
            <a:solidFill>
              <a:srgbClr val="2A8DA8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8046720" y="3611880"/>
            <a:ext cx="502920" cy="502920"/>
          </a:xfrm>
          <a:prstGeom prst="ellipse">
            <a:avLst/>
          </a:prstGeom>
          <a:solidFill>
            <a:srgbClr val="0A4F66"/>
          </a:solidFill>
          <a:ln w="12700">
            <a:solidFill>
              <a:srgbClr val="A5F3FC"/>
            </a:solidFill>
            <a:prstDash val="solid"/>
          </a:ln>
        </p:spPr>
      </p:sp>
      <p:pic>
        <p:nvPicPr>
          <p:cNvPr id="15" name="Image 2" descr="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479" y="3742639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73252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5F3FC"/>
                </a:solidFill>
              </a:rPr>
              <a:t>STRESS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8732520" y="3931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Before / after P&amp;L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0" y="4434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FF7"/>
                </a:solidFill>
              </a:rPr>
              <a:t>Scenario shocks applied to a multi-asset portfolio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" y="5440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12</a:t>
            </a:r>
            <a:endParaRPr lang="en-US" sz="36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EFF7"/>
                </a:solidFill>
              </a:rPr>
              <a:t>fictional holdings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2788920" y="5440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8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2788920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EFF7"/>
                </a:solidFill>
              </a:rPr>
              <a:t>event classes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4937760" y="5440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5</a:t>
            </a:r>
            <a:endParaRPr lang="en-US" sz="3600" dirty="0"/>
          </a:p>
        </p:txBody>
      </p:sp>
      <p:sp>
        <p:nvSpPr>
          <p:cNvPr id="24" name="Text 19"/>
          <p:cNvSpPr txBox="1"/>
          <p:nvPr/>
        </p:nvSpPr>
        <p:spPr>
          <a:xfrm>
            <a:off x="4937760" y="5943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EFF7"/>
                </a:solidFill>
              </a:rPr>
              <a:t>stress scenarios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A5F3FC"/>
                </a:solidFill>
              </a:rPr>
              <a:t>DEMO DATA AND POSITIONS ARE SYNTHETIC  ·  NOT INVESTMENT ADVICE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2A3B"/>
                </a:solidFill>
              </a:rPr>
              <a:t>Why RiskLens: from unstructured text to decisions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45309"/>
                </a:solidFill>
              </a:rPr>
              <a:t>THE CHALLENGE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263640" y="15544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891B2"/>
                </a:solidFill>
              </a:rPr>
              <a:t>THE RISKLENS APPROACH</a:t>
            </a:r>
            <a:endParaRPr lang="en-US" sz="1300" dirty="0"/>
          </a:p>
        </p:txBody>
      </p:sp>
      <p:sp>
        <p:nvSpPr>
          <p:cNvPr id="5" name="challenge-0"/>
          <p:cNvSpPr/>
          <p:nvPr/>
        </p:nvSpPr>
        <p:spPr>
          <a:xfrm>
            <a:off x="548640" y="196596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214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A3B"/>
                </a:solidFill>
              </a:rPr>
              <a:t>Market text is fast and unstructured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963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F6B7A"/>
                </a:solidFill>
              </a:rPr>
              <a:t>Hard to see which headlines actually matter for a portfolio.</a:t>
            </a:r>
            <a:endParaRPr lang="en-US" sz="1400" dirty="0"/>
          </a:p>
        </p:txBody>
      </p:sp>
      <p:sp>
        <p:nvSpPr>
          <p:cNvPr id="8" name="approach-0"/>
          <p:cNvSpPr/>
          <p:nvPr/>
        </p:nvSpPr>
        <p:spPr>
          <a:xfrm>
            <a:off x="6263640" y="196596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DDF3F8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12140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A3B"/>
                </a:solidFill>
              </a:rPr>
              <a:t>Structured, traceable risk signals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9631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F6B7A"/>
                </a:solidFill>
              </a:rPr>
              <a:t>Sentiment, event type and a 1–10 impact score for every item.</a:t>
            </a:r>
            <a:endParaRPr lang="en-US" sz="1400" dirty="0"/>
          </a:p>
        </p:txBody>
      </p:sp>
      <p:sp>
        <p:nvSpPr>
          <p:cNvPr id="11" name="challenge-1"/>
          <p:cNvSpPr/>
          <p:nvPr/>
        </p:nvSpPr>
        <p:spPr>
          <a:xfrm>
            <a:off x="548640" y="320040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3558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A3B"/>
                </a:solidFill>
              </a:rPr>
              <a:t>Scores without provenance are hard to trust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7307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F6B7A"/>
                </a:solidFill>
              </a:rPr>
              <a:t>Reviewers need to know where a signal came from and how it was computed.</a:t>
            </a:r>
            <a:endParaRPr lang="en-US" sz="1400" dirty="0"/>
          </a:p>
        </p:txBody>
      </p:sp>
      <p:sp>
        <p:nvSpPr>
          <p:cNvPr id="14" name="approach-1"/>
          <p:cNvSpPr/>
          <p:nvPr/>
        </p:nvSpPr>
        <p:spPr>
          <a:xfrm>
            <a:off x="6263640" y="320040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DDF3F8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335584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A3B"/>
                </a:solidFill>
              </a:rPr>
              <a:t>Configurable scenario shocks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373075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F6B7A"/>
                </a:solidFill>
              </a:rPr>
              <a:t>Class-level shocks scaled by a user-selected severity.</a:t>
            </a:r>
            <a:endParaRPr lang="en-US" sz="1400" dirty="0"/>
          </a:p>
        </p:txBody>
      </p:sp>
      <p:sp>
        <p:nvSpPr>
          <p:cNvPr id="17" name="challenge-2"/>
          <p:cNvSpPr/>
          <p:nvPr/>
        </p:nvSpPr>
        <p:spPr>
          <a:xfrm>
            <a:off x="548640" y="443484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5902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A3B"/>
                </a:solidFill>
              </a:rPr>
              <a:t>Risk talk rarely connects to P&amp;L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9651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F6B7A"/>
                </a:solidFill>
              </a:rPr>
              <a:t>Qualitative worries seldom turn into a quantified portfolio impact.</a:t>
            </a:r>
            <a:endParaRPr lang="en-US" sz="1400" dirty="0"/>
          </a:p>
        </p:txBody>
      </p:sp>
      <p:sp>
        <p:nvSpPr>
          <p:cNvPr id="20" name="approach-2"/>
          <p:cNvSpPr/>
          <p:nvPr/>
        </p:nvSpPr>
        <p:spPr>
          <a:xfrm>
            <a:off x="6263640" y="443484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DDF3F8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37960" y="45902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2A3B"/>
                </a:solidFill>
              </a:rPr>
              <a:t>Transparent portfolio impact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4965192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F6B7A"/>
                </a:solidFill>
              </a:rPr>
              <a:t>Before/after value, P&amp;L and asset-class attribution.</a:t>
            </a:r>
            <a:endParaRPr lang="en-US" sz="1400" dirty="0"/>
          </a:p>
        </p:txBody>
      </p:sp>
      <p:sp>
        <p:nvSpPr>
          <p:cNvPr id="23" name="arrow-badge"/>
          <p:cNvSpPr/>
          <p:nvPr/>
        </p:nvSpPr>
        <p:spPr>
          <a:xfrm>
            <a:off x="5824728" y="3200400"/>
            <a:ext cx="457200" cy="457200"/>
          </a:xfrm>
          <a:prstGeom prst="ellipse">
            <a:avLst/>
          </a:prstGeom>
          <a:solidFill>
            <a:srgbClr val="0891B2"/>
          </a:solidFill>
          <a:ln w="25400">
            <a:solidFill>
              <a:srgbClr val="F1FAFC"/>
            </a:solidFill>
            <a:prstDash val="solid"/>
          </a:ln>
        </p:spPr>
      </p:sp>
      <p:pic>
        <p:nvPicPr>
          <p:cNvPr id="24" name="Image 0" descr="targe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319272"/>
            <a:ext cx="219456" cy="219456"/>
          </a:xfrm>
          <a:prstGeom prst="rect">
            <a:avLst/>
          </a:prstGeom>
        </p:spPr>
      </p:pic>
      <p:sp>
        <p:nvSpPr>
          <p:cNvPr id="25" name="principle"/>
          <p:cNvSpPr/>
          <p:nvPr/>
        </p:nvSpPr>
        <p:spPr>
          <a:xfrm>
            <a:off x="548640" y="57150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7150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</a:rPr>
              <a:t>Traceable</a:t>
            </a:r>
            <a:endParaRPr lang="en-US" sz="1500" dirty="0"/>
          </a:p>
        </p:txBody>
      </p:sp>
      <p:sp>
        <p:nvSpPr>
          <p:cNvPr id="27" name="principle"/>
          <p:cNvSpPr/>
          <p:nvPr/>
        </p:nvSpPr>
        <p:spPr>
          <a:xfrm>
            <a:off x="3346704" y="57150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346704" y="57150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</a:rPr>
              <a:t>Configurable</a:t>
            </a:r>
            <a:endParaRPr lang="en-US" sz="1500" dirty="0"/>
          </a:p>
        </p:txBody>
      </p:sp>
      <p:sp>
        <p:nvSpPr>
          <p:cNvPr id="29" name="principle"/>
          <p:cNvSpPr/>
          <p:nvPr/>
        </p:nvSpPr>
        <p:spPr>
          <a:xfrm>
            <a:off x="6144768" y="57150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144768" y="57150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</a:rPr>
              <a:t>Transparent</a:t>
            </a:r>
            <a:endParaRPr lang="en-US" sz="1500" dirty="0"/>
          </a:p>
        </p:txBody>
      </p:sp>
      <p:sp>
        <p:nvSpPr>
          <p:cNvPr id="31" name="principle"/>
          <p:cNvSpPr/>
          <p:nvPr/>
        </p:nvSpPr>
        <p:spPr>
          <a:xfrm>
            <a:off x="8942832" y="5715000"/>
            <a:ext cx="2615184" cy="457200"/>
          </a:xfrm>
          <a:prstGeom prst="roundRect">
            <a:avLst>
              <a:gd name="adj" fmla="val 50000"/>
            </a:avLst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942832" y="5715000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891B2"/>
                </a:solidFill>
              </a:rPr>
              <a:t>Local-first</a:t>
            </a:r>
            <a:endParaRPr lang="en-US" sz="15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F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C74F2A58-7DBD-5B9D-EA51-58228FF57FC2}"/>
                  </a:ext>
                </a:extLst>
              </p14:cNvPr>
              <p14:cNvContentPartPr/>
              <p14:nvPr/>
            </p14:nvContentPartPr>
            <p14:xfrm>
              <a:off x="2397600" y="335160"/>
              <a:ext cx="360" cy="36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C74F2A58-7DBD-5B9D-EA51-58228FF57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4600" y="-42840"/>
                <a:ext cx="126000" cy="75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B7FF1EAA-6540-08AF-DDFF-8DA114582B9A}"/>
                  </a:ext>
                </a:extLst>
              </p14:cNvPr>
              <p14:cNvContentPartPr/>
              <p14:nvPr/>
            </p14:nvContentPartPr>
            <p14:xfrm>
              <a:off x="340200" y="167400"/>
              <a:ext cx="360" cy="3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B7FF1EAA-6540-08AF-DDFF-8DA114582B9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7200" y="-210240"/>
                <a:ext cx="126000" cy="756000"/>
              </a:xfrm>
              <a:prstGeom prst="rect">
                <a:avLst/>
              </a:prstGeom>
            </p:spPr>
          </p:pic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CE80344A-8212-FC78-8EEC-42B82D55B950}"/>
              </a:ext>
            </a:extLst>
          </p:cNvPr>
          <p:cNvSpPr/>
          <p:nvPr/>
        </p:nvSpPr>
        <p:spPr>
          <a:xfrm>
            <a:off x="340560" y="251927"/>
            <a:ext cx="3006144" cy="36986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2A3B"/>
                </a:solidFill>
              </a:rPr>
              <a:t>The workflow is designed to be inspectable</a:t>
            </a:r>
            <a:endParaRPr lang="en-US" sz="3400" dirty="0"/>
          </a:p>
        </p:txBody>
      </p:sp>
      <p:sp>
        <p:nvSpPr>
          <p:cNvPr id="3" name="step-INGEST"/>
          <p:cNvSpPr/>
          <p:nvPr/>
        </p:nvSpPr>
        <p:spPr>
          <a:xfrm>
            <a:off x="548640" y="160020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BCD9E3"/>
                </a:solidFill>
              </a:rPr>
              <a:t>01</a:t>
            </a:r>
            <a:endParaRPr lang="en-US" sz="3400" dirty="0"/>
          </a:p>
        </p:txBody>
      </p:sp>
      <p:sp>
        <p:nvSpPr>
          <p:cNvPr id="5" name="icon-circle"/>
          <p:cNvSpPr/>
          <p:nvPr/>
        </p:nvSpPr>
        <p:spPr>
          <a:xfrm>
            <a:off x="1828800" y="1810512"/>
            <a:ext cx="502920" cy="50292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6" name="Image 0" descr="new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559" y="1941271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891B2"/>
                </a:solidFill>
              </a:rPr>
              <a:t>INGEST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971800"/>
            <a:ext cx="1600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Bundled samples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RSS · CSV · JSON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Synthetic newswire and social pulse</a:t>
            </a:r>
            <a:endParaRPr lang="en-US" sz="1400" dirty="0"/>
          </a:p>
        </p:txBody>
      </p:sp>
      <p:pic>
        <p:nvPicPr>
          <p:cNvPr id="9" name="Image 1" descr="nex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3291840"/>
            <a:ext cx="246888" cy="246888"/>
          </a:xfrm>
          <a:prstGeom prst="rect">
            <a:avLst/>
          </a:prstGeom>
        </p:spPr>
      </p:pic>
      <p:sp>
        <p:nvSpPr>
          <p:cNvPr id="10" name="step-ANALYZE"/>
          <p:cNvSpPr/>
          <p:nvPr/>
        </p:nvSpPr>
        <p:spPr>
          <a:xfrm>
            <a:off x="2811780" y="160020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04038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BCD9E3"/>
                </a:solidFill>
              </a:rPr>
              <a:t>02</a:t>
            </a:r>
            <a:endParaRPr lang="en-US" sz="3400" dirty="0"/>
          </a:p>
        </p:txBody>
      </p:sp>
      <p:sp>
        <p:nvSpPr>
          <p:cNvPr id="12" name="icon-circle"/>
          <p:cNvSpPr/>
          <p:nvPr/>
        </p:nvSpPr>
        <p:spPr>
          <a:xfrm>
            <a:off x="4091940" y="1810512"/>
            <a:ext cx="502920" cy="50292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3" name="Image 2" descr="brai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2699" y="1941271"/>
            <a:ext cx="241402" cy="2414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04038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891B2"/>
                </a:solidFill>
              </a:rPr>
              <a:t>ANALYZE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040380" y="2971800"/>
            <a:ext cx="1600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FinBERT sentiment (optional)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Deterministic lexicon fallback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Event classification</a:t>
            </a:r>
            <a:endParaRPr lang="en-US" sz="1400" dirty="0"/>
          </a:p>
        </p:txBody>
      </p:sp>
      <p:pic>
        <p:nvPicPr>
          <p:cNvPr id="16" name="Image 3" descr="nex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3291840"/>
            <a:ext cx="246888" cy="246888"/>
          </a:xfrm>
          <a:prstGeom prst="rect">
            <a:avLst/>
          </a:prstGeom>
        </p:spPr>
      </p:pic>
      <p:sp>
        <p:nvSpPr>
          <p:cNvPr id="17" name="step-SIGNAL"/>
          <p:cNvSpPr/>
          <p:nvPr/>
        </p:nvSpPr>
        <p:spPr>
          <a:xfrm>
            <a:off x="5074920" y="160020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530352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BCD9E3"/>
                </a:solidFill>
              </a:rPr>
              <a:t>03</a:t>
            </a:r>
            <a:endParaRPr lang="en-US" sz="3400" dirty="0"/>
          </a:p>
        </p:txBody>
      </p:sp>
      <p:sp>
        <p:nvSpPr>
          <p:cNvPr id="19" name="icon-circle"/>
          <p:cNvSpPr/>
          <p:nvPr/>
        </p:nvSpPr>
        <p:spPr>
          <a:xfrm>
            <a:off x="6355080" y="1810512"/>
            <a:ext cx="502920" cy="50292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0" name="Image 4" descr="bo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5839" y="1941271"/>
            <a:ext cx="241402" cy="24140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530352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891B2"/>
                </a:solidFill>
              </a:rPr>
              <a:t>SIGNAL</a:t>
            </a:r>
            <a:endParaRPr lang="en-US" sz="1600" dirty="0"/>
          </a:p>
        </p:txBody>
      </p:sp>
      <p:sp>
        <p:nvSpPr>
          <p:cNvPr id="22" name="Text 15"/>
          <p:cNvSpPr txBox="1"/>
          <p:nvPr/>
        </p:nvSpPr>
        <p:spPr>
          <a:xfrm>
            <a:off x="5303520" y="2971800"/>
            <a:ext cx="1600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Event type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Impact score 1–10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Mapped to candidate scenario</a:t>
            </a:r>
            <a:endParaRPr lang="en-US" sz="1400" dirty="0"/>
          </a:p>
        </p:txBody>
      </p:sp>
      <p:pic>
        <p:nvPicPr>
          <p:cNvPr id="23" name="Image 5" descr="nex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291840"/>
            <a:ext cx="246888" cy="246888"/>
          </a:xfrm>
          <a:prstGeom prst="rect">
            <a:avLst/>
          </a:prstGeom>
        </p:spPr>
      </p:pic>
      <p:sp>
        <p:nvSpPr>
          <p:cNvPr id="24" name="step-STRESS"/>
          <p:cNvSpPr/>
          <p:nvPr/>
        </p:nvSpPr>
        <p:spPr>
          <a:xfrm>
            <a:off x="7338060" y="160020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25" name="Text 17"/>
          <p:cNvSpPr txBox="1"/>
          <p:nvPr/>
        </p:nvSpPr>
        <p:spPr>
          <a:xfrm>
            <a:off x="756666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BCD9E3"/>
                </a:solidFill>
              </a:rPr>
              <a:t>04</a:t>
            </a:r>
            <a:endParaRPr lang="en-US" sz="3400" dirty="0"/>
          </a:p>
        </p:txBody>
      </p:sp>
      <p:sp>
        <p:nvSpPr>
          <p:cNvPr id="26" name="icon-circle"/>
          <p:cNvSpPr/>
          <p:nvPr/>
        </p:nvSpPr>
        <p:spPr>
          <a:xfrm>
            <a:off x="8618220" y="1810512"/>
            <a:ext cx="502920" cy="50292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7" name="Image 6" descr="slider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8979" y="1941271"/>
            <a:ext cx="241402" cy="24140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56666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891B2"/>
                </a:solidFill>
              </a:rPr>
              <a:t>STRESS</a:t>
            </a:r>
            <a:endParaRPr lang="en-US" sz="1600" dirty="0"/>
          </a:p>
        </p:txBody>
      </p:sp>
      <p:sp>
        <p:nvSpPr>
          <p:cNvPr id="29" name="Text 20"/>
          <p:cNvSpPr txBox="1"/>
          <p:nvPr/>
        </p:nvSpPr>
        <p:spPr>
          <a:xfrm>
            <a:off x="7566660" y="2971800"/>
            <a:ext cx="1600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Scenario shocks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Severity multiplier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Holdings-level P&amp;L</a:t>
            </a:r>
            <a:endParaRPr lang="en-US" sz="1400" dirty="0"/>
          </a:p>
        </p:txBody>
      </p:sp>
      <p:pic>
        <p:nvPicPr>
          <p:cNvPr id="30" name="Image 7" descr="nex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9740" y="3291840"/>
            <a:ext cx="246888" cy="246888"/>
          </a:xfrm>
          <a:prstGeom prst="rect">
            <a:avLst/>
          </a:prstGeom>
        </p:spPr>
      </p:pic>
      <p:sp>
        <p:nvSpPr>
          <p:cNvPr id="31" name="step-REVIEW"/>
          <p:cNvSpPr/>
          <p:nvPr/>
        </p:nvSpPr>
        <p:spPr>
          <a:xfrm>
            <a:off x="9601200" y="1600200"/>
            <a:ext cx="2011680" cy="35661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32" name="Text 22"/>
          <p:cNvSpPr txBox="1"/>
          <p:nvPr/>
        </p:nvSpPr>
        <p:spPr>
          <a:xfrm>
            <a:off x="9829800" y="1783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BCD9E3"/>
                </a:solidFill>
              </a:rPr>
              <a:t>05</a:t>
            </a:r>
            <a:endParaRPr lang="en-US" sz="3400" dirty="0"/>
          </a:p>
        </p:txBody>
      </p:sp>
      <p:sp>
        <p:nvSpPr>
          <p:cNvPr id="33" name="icon-circle"/>
          <p:cNvSpPr/>
          <p:nvPr/>
        </p:nvSpPr>
        <p:spPr>
          <a:xfrm>
            <a:off x="10881360" y="1810512"/>
            <a:ext cx="502920" cy="50292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4" name="Image 8" descr="review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12119" y="1941271"/>
            <a:ext cx="241402" cy="241402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9829800" y="25146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891B2"/>
                </a:solidFill>
              </a:rPr>
              <a:t>REVIEW</a:t>
            </a:r>
            <a:endParaRPr lang="en-US" sz="1600" dirty="0"/>
          </a:p>
        </p:txBody>
      </p:sp>
      <p:sp>
        <p:nvSpPr>
          <p:cNvPr id="36" name="Text 25"/>
          <p:cNvSpPr txBox="1"/>
          <p:nvPr/>
        </p:nvSpPr>
        <p:spPr>
          <a:xfrm>
            <a:off x="9829800" y="2971800"/>
            <a:ext cx="1600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Streamlit + Plotly UI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SQLite storage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B2A3B"/>
                </a:solidFill>
              </a:rPr>
              <a:t>CSV / JSON exports</a:t>
            </a:r>
            <a:endParaRPr lang="en-US" sz="1400" dirty="0"/>
          </a:p>
        </p:txBody>
      </p:sp>
      <p:sp>
        <p:nvSpPr>
          <p:cNvPr id="37" name="provenance-callout"/>
          <p:cNvSpPr/>
          <p:nvPr/>
        </p:nvSpPr>
        <p:spPr>
          <a:xfrm>
            <a:off x="548640" y="544068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DDF3F8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38" name="icon-circle"/>
          <p:cNvSpPr/>
          <p:nvPr/>
        </p:nvSpPr>
        <p:spPr>
          <a:xfrm>
            <a:off x="777240" y="5554980"/>
            <a:ext cx="502920" cy="50292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9" name="Image 9" descr="ey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999" y="5685739"/>
            <a:ext cx="241402" cy="24140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508760" y="54406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A3B"/>
                </a:solidFill>
              </a:rPr>
              <a:t>Provenance labels and transparent assumptions keep the demo usable even when external APIs or model downloads fail.</a:t>
            </a:r>
            <a:endParaRPr lang="en-US" sz="15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F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D6C31C1-A499-2DA5-BD63-728E99C09F48}"/>
              </a:ext>
            </a:extLst>
          </p:cNvPr>
          <p:cNvSpPr/>
          <p:nvPr/>
        </p:nvSpPr>
        <p:spPr>
          <a:xfrm>
            <a:off x="391886" y="186612"/>
            <a:ext cx="2901820" cy="43518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2A3B"/>
                </a:solidFill>
              </a:rPr>
              <a:t>Architecture: local-first, modular, reproducible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891B2"/>
                </a:solidFill>
              </a:rPr>
              <a:t>INPUTS</a:t>
            </a:r>
            <a:endParaRPr lang="en-US" sz="1300" dirty="0"/>
          </a:p>
        </p:txBody>
      </p:sp>
      <p:sp>
        <p:nvSpPr>
          <p:cNvPr id="4" name="input-0"/>
          <p:cNvSpPr/>
          <p:nvPr/>
        </p:nvSpPr>
        <p:spPr>
          <a:xfrm>
            <a:off x="548640" y="192024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B"/>
                </a:solidFill>
              </a:rPr>
              <a:t>Synthetic Newswire</a:t>
            </a:r>
            <a:endParaRPr lang="en-US" sz="1400" dirty="0"/>
          </a:p>
        </p:txBody>
      </p:sp>
      <p:sp>
        <p:nvSpPr>
          <p:cNvPr id="6" name="input-1"/>
          <p:cNvSpPr/>
          <p:nvPr/>
        </p:nvSpPr>
        <p:spPr>
          <a:xfrm>
            <a:off x="548640" y="2688336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88336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B"/>
                </a:solidFill>
              </a:rPr>
              <a:t>Synthetic Social Pulse</a:t>
            </a:r>
            <a:endParaRPr lang="en-US" sz="1400" dirty="0"/>
          </a:p>
        </p:txBody>
      </p:sp>
      <p:sp>
        <p:nvSpPr>
          <p:cNvPr id="8" name="input-2"/>
          <p:cNvSpPr/>
          <p:nvPr/>
        </p:nvSpPr>
        <p:spPr>
          <a:xfrm>
            <a:off x="548640" y="3456432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45643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B"/>
                </a:solidFill>
              </a:rPr>
              <a:t>Optional RSS</a:t>
            </a:r>
            <a:endParaRPr lang="en-US" sz="1400" dirty="0"/>
          </a:p>
        </p:txBody>
      </p:sp>
      <p:sp>
        <p:nvSpPr>
          <p:cNvPr id="10" name="input-3"/>
          <p:cNvSpPr/>
          <p:nvPr/>
        </p:nvSpPr>
        <p:spPr>
          <a:xfrm>
            <a:off x="548640" y="4224528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224528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A3B"/>
                </a:solidFill>
              </a:rPr>
              <a:t>CSV / JSON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1554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891B2"/>
                </a:solidFill>
              </a:rPr>
              <a:t>NLP RISK ENGINE</a:t>
            </a:r>
            <a:endParaRPr lang="en-US" sz="1300" dirty="0"/>
          </a:p>
        </p:txBody>
      </p:sp>
      <p:sp>
        <p:nvSpPr>
          <p:cNvPr id="13" name="nlp-engine"/>
          <p:cNvSpPr/>
          <p:nvPr/>
        </p:nvSpPr>
        <p:spPr>
          <a:xfrm>
            <a:off x="3566160" y="192024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DDF3F8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3794760" y="2103120"/>
            <a:ext cx="502920" cy="50292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5" name="Image 0" descr="br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519" y="2233879"/>
            <a:ext cx="241402" cy="24140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3840480" y="27889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Sentiment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Event classification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Impact score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Risk signal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1554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891B2"/>
                </a:solidFill>
              </a:rPr>
              <a:t>STRESS ENGINE</a:t>
            </a:r>
            <a:endParaRPr lang="en-US" sz="1300" dirty="0"/>
          </a:p>
        </p:txBody>
      </p:sp>
      <p:sp>
        <p:nvSpPr>
          <p:cNvPr id="18" name="stress-engine"/>
          <p:cNvSpPr/>
          <p:nvPr/>
        </p:nvSpPr>
        <p:spPr>
          <a:xfrm>
            <a:off x="6446520" y="192024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DDF3F8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19" name="icon-circle"/>
          <p:cNvSpPr/>
          <p:nvPr/>
        </p:nvSpPr>
        <p:spPr>
          <a:xfrm>
            <a:off x="6675120" y="2103120"/>
            <a:ext cx="502920" cy="50292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0" name="Image 1" descr="slid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879" y="2233879"/>
            <a:ext cx="241402" cy="241402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720840" y="27889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Scenario shocks × severity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Portfolio valuation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Asset-class contributions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9326880" y="155448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891B2"/>
                </a:solidFill>
              </a:rPr>
              <a:t>APP + STORAGE</a:t>
            </a:r>
            <a:endParaRPr lang="en-US" sz="1300" dirty="0"/>
          </a:p>
        </p:txBody>
      </p:sp>
      <p:sp>
        <p:nvSpPr>
          <p:cNvPr id="23" name="app-storage"/>
          <p:cNvSpPr/>
          <p:nvPr/>
        </p:nvSpPr>
        <p:spPr>
          <a:xfrm>
            <a:off x="9326880" y="1920240"/>
            <a:ext cx="2240280" cy="3017520"/>
          </a:xfrm>
          <a:prstGeom prst="roundRect">
            <a:avLst>
              <a:gd name="adj" fmla="val 3265"/>
            </a:avLst>
          </a:prstGeom>
          <a:solidFill>
            <a:srgbClr val="DDF3F8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24" name="icon-circle"/>
          <p:cNvSpPr/>
          <p:nvPr/>
        </p:nvSpPr>
        <p:spPr>
          <a:xfrm>
            <a:off x="9555480" y="2103120"/>
            <a:ext cx="502920" cy="50292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5" name="Image 2" descr="db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6239" y="2233879"/>
            <a:ext cx="241402" cy="241402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9601200" y="278892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Streamlit UI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Plotly charts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SQLite persistence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CSV / JSON exports</a:t>
            </a:r>
            <a:endParaRPr lang="en-US" sz="1500" dirty="0"/>
          </a:p>
        </p:txBody>
      </p:sp>
      <p:pic>
        <p:nvPicPr>
          <p:cNvPr id="27" name="Image 3" descr="flo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306324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2834640" y="3401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6B7A"/>
                </a:solidFill>
              </a:rPr>
              <a:t>normalize</a:t>
            </a:r>
            <a:endParaRPr lang="en-US" sz="1100" dirty="0"/>
          </a:p>
        </p:txBody>
      </p:sp>
      <p:pic>
        <p:nvPicPr>
          <p:cNvPr id="29" name="Image 4" descr="flo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06324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806440" y="3401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6B7A"/>
                </a:solidFill>
              </a:rPr>
              <a:t>scenario</a:t>
            </a:r>
            <a:endParaRPr lang="en-US" sz="1100" dirty="0"/>
          </a:p>
        </p:txBody>
      </p:sp>
      <p:pic>
        <p:nvPicPr>
          <p:cNvPr id="31" name="Image 5" descr="flo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0" y="306324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686800" y="34015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6B7A"/>
                </a:solidFill>
              </a:rPr>
              <a:t>results</a:t>
            </a:r>
            <a:endParaRPr lang="en-US" sz="1100" dirty="0"/>
          </a:p>
        </p:txBody>
      </p:sp>
      <p:sp>
        <p:nvSpPr>
          <p:cNvPr id="33" name="principle-0"/>
          <p:cNvSpPr/>
          <p:nvPr/>
        </p:nvSpPr>
        <p:spPr>
          <a:xfrm>
            <a:off x="548640" y="5212080"/>
            <a:ext cx="35935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34" name="icon-circle"/>
          <p:cNvSpPr/>
          <p:nvPr/>
        </p:nvSpPr>
        <p:spPr>
          <a:xfrm>
            <a:off x="731520" y="5458968"/>
            <a:ext cx="457200" cy="45720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5" name="Image 6" descr="laptop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" y="5577840"/>
            <a:ext cx="219456" cy="219456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371600" y="5321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A3B"/>
                </a:solidFill>
              </a:rPr>
              <a:t>Local-first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1371600" y="5623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6B7A"/>
                </a:solidFill>
              </a:rPr>
              <a:t>Runs offline on bundled samples; no external API required.</a:t>
            </a:r>
            <a:endParaRPr lang="en-US" sz="1200" dirty="0"/>
          </a:p>
        </p:txBody>
      </p:sp>
      <p:sp>
        <p:nvSpPr>
          <p:cNvPr id="38" name="principle-1"/>
          <p:cNvSpPr/>
          <p:nvPr/>
        </p:nvSpPr>
        <p:spPr>
          <a:xfrm>
            <a:off x="4297680" y="5212080"/>
            <a:ext cx="35935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39" name="icon-circle"/>
          <p:cNvSpPr/>
          <p:nvPr/>
        </p:nvSpPr>
        <p:spPr>
          <a:xfrm>
            <a:off x="4480560" y="5458968"/>
            <a:ext cx="457200" cy="45720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0" name="Image 7" descr="layer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9432" y="5577840"/>
            <a:ext cx="219456" cy="21945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120640" y="5321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A3B"/>
                </a:solidFill>
              </a:rPr>
              <a:t>Modular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5120640" y="5623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6B7A"/>
                </a:solidFill>
              </a:rPr>
              <a:t>NLP, stress and app layers are separable components.</a:t>
            </a:r>
            <a:endParaRPr lang="en-US" sz="1200" dirty="0"/>
          </a:p>
        </p:txBody>
      </p:sp>
      <p:sp>
        <p:nvSpPr>
          <p:cNvPr id="43" name="principle-2"/>
          <p:cNvSpPr/>
          <p:nvPr/>
        </p:nvSpPr>
        <p:spPr>
          <a:xfrm>
            <a:off x="8046720" y="5212080"/>
            <a:ext cx="35935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44" name="icon-circle"/>
          <p:cNvSpPr/>
          <p:nvPr/>
        </p:nvSpPr>
        <p:spPr>
          <a:xfrm>
            <a:off x="8229600" y="5458968"/>
            <a:ext cx="457200" cy="45720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5" name="Image 8" descr="check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48472" y="5577840"/>
            <a:ext cx="219456" cy="219456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869680" y="532180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A3B"/>
                </a:solidFill>
              </a:rPr>
              <a:t>Reproducible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869680" y="56235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6B7A"/>
                </a:solidFill>
              </a:rPr>
              <a:t>Deterministic fallback and synthetic data give repeatable runs.</a:t>
            </a:r>
            <a:endParaRPr lang="en-US" sz="12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F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D8EE3BF-C27E-F758-3154-A5A88AF02C8B}"/>
              </a:ext>
            </a:extLst>
          </p:cNvPr>
          <p:cNvSpPr/>
          <p:nvPr/>
        </p:nvSpPr>
        <p:spPr>
          <a:xfrm>
            <a:off x="438539" y="335902"/>
            <a:ext cx="2957804" cy="30417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2A3B"/>
                </a:solidFill>
              </a:rPr>
              <a:t>NLP: useful signals, explicit limitations</a:t>
            </a:r>
            <a:endParaRPr lang="en-US" sz="3400" dirty="0"/>
          </a:p>
        </p:txBody>
      </p:sp>
      <p:sp>
        <p:nvSpPr>
          <p:cNvPr id="3" name="sentiment"/>
          <p:cNvSpPr/>
          <p:nvPr/>
        </p:nvSpPr>
        <p:spPr>
          <a:xfrm>
            <a:off x="548640" y="155448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br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8562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891B2"/>
                </a:solidFill>
              </a:rPr>
              <a:t>SENTIMENT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A3B"/>
                </a:solidFill>
              </a:rPr>
              <a:t>Signed score in [−1, +1]</a:t>
            </a:r>
            <a:endParaRPr lang="en-US" sz="1600" dirty="0"/>
          </a:p>
        </p:txBody>
      </p:sp>
      <p:sp>
        <p:nvSpPr>
          <p:cNvPr id="8" name="sentiment-scale"/>
          <p:cNvSpPr/>
          <p:nvPr/>
        </p:nvSpPr>
        <p:spPr>
          <a:xfrm>
            <a:off x="777240" y="2880360"/>
            <a:ext cx="3154680" cy="128016"/>
          </a:xfrm>
          <a:prstGeom prst="roundRect">
            <a:avLst>
              <a:gd name="adj" fmla="val 50000"/>
            </a:avLst>
          </a:prstGeom>
          <a:solidFill>
            <a:srgbClr val="BCD9E3"/>
          </a:solidFill>
          <a:ln w="12700">
            <a:solidFill>
              <a:srgbClr val="BCD9E3"/>
            </a:solidFill>
            <a:prstDash val="solid"/>
          </a:ln>
        </p:spPr>
      </p:sp>
      <p:sp>
        <p:nvSpPr>
          <p:cNvPr id="9" name="sentiment-marker"/>
          <p:cNvSpPr/>
          <p:nvPr/>
        </p:nvSpPr>
        <p:spPr>
          <a:xfrm>
            <a:off x="1298448" y="2816352"/>
            <a:ext cx="256032" cy="256032"/>
          </a:xfrm>
          <a:prstGeom prst="ellipse">
            <a:avLst/>
          </a:prstGeom>
          <a:solidFill>
            <a:srgbClr val="DC2626"/>
          </a:solidFill>
          <a:ln w="19050">
            <a:solidFill>
              <a:srgbClr val="F1FAF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108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F6B7A"/>
                </a:solidFill>
              </a:rPr>
              <a:t>−1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3474720" y="31089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4F6B7A"/>
                </a:solidFill>
              </a:rPr>
              <a:t>+1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429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F6B7A"/>
                </a:solidFill>
              </a:rPr>
              <a:t>FinBERT optional; the fallback is deterministic and local.</a:t>
            </a:r>
            <a:endParaRPr lang="en-US" sz="1400" dirty="0"/>
          </a:p>
        </p:txBody>
      </p:sp>
      <p:sp>
        <p:nvSpPr>
          <p:cNvPr id="13" name="event"/>
          <p:cNvSpPr/>
          <p:nvPr/>
        </p:nvSpPr>
        <p:spPr>
          <a:xfrm>
            <a:off x="4288536" y="155448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14" name="icon-circle"/>
          <p:cNvSpPr/>
          <p:nvPr/>
        </p:nvSpPr>
        <p:spPr>
          <a:xfrm>
            <a:off x="4517136" y="1737360"/>
            <a:ext cx="457200" cy="45720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5" name="Image 1" descr="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185623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157216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891B2"/>
                </a:solidFill>
              </a:rPr>
              <a:t>EVENT CLASS</a:t>
            </a:r>
            <a:endParaRPr lang="en-US" sz="1300" dirty="0"/>
          </a:p>
        </p:txBody>
      </p:sp>
      <p:sp>
        <p:nvSpPr>
          <p:cNvPr id="17" name="event-chip"/>
          <p:cNvSpPr/>
          <p:nvPr/>
        </p:nvSpPr>
        <p:spPr>
          <a:xfrm>
            <a:off x="4517136" y="2423160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D6F1F7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17136" y="242316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B"/>
                </a:solidFill>
              </a:rPr>
              <a:t>Geopolitical</a:t>
            </a:r>
            <a:endParaRPr lang="en-US" sz="1200" dirty="0"/>
          </a:p>
        </p:txBody>
      </p:sp>
      <p:sp>
        <p:nvSpPr>
          <p:cNvPr id="19" name="event-chip"/>
          <p:cNvSpPr/>
          <p:nvPr/>
        </p:nvSpPr>
        <p:spPr>
          <a:xfrm>
            <a:off x="5843016" y="242316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D6F1F7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843016" y="24231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B"/>
                </a:solidFill>
              </a:rPr>
              <a:t>Macroeconomic</a:t>
            </a:r>
            <a:endParaRPr lang="en-US" sz="1200" dirty="0"/>
          </a:p>
        </p:txBody>
      </p:sp>
      <p:sp>
        <p:nvSpPr>
          <p:cNvPr id="21" name="event-chip"/>
          <p:cNvSpPr/>
          <p:nvPr/>
        </p:nvSpPr>
        <p:spPr>
          <a:xfrm>
            <a:off x="4517136" y="2880360"/>
            <a:ext cx="777240" cy="347472"/>
          </a:xfrm>
          <a:prstGeom prst="roundRect">
            <a:avLst>
              <a:gd name="adj" fmla="val 50000"/>
            </a:avLst>
          </a:prstGeom>
          <a:solidFill>
            <a:srgbClr val="D6F1F7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4517136" y="288036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B"/>
                </a:solidFill>
              </a:rPr>
              <a:t>Credit</a:t>
            </a:r>
            <a:endParaRPr lang="en-US" sz="1200" dirty="0"/>
          </a:p>
        </p:txBody>
      </p:sp>
      <p:sp>
        <p:nvSpPr>
          <p:cNvPr id="23" name="event-chip"/>
          <p:cNvSpPr/>
          <p:nvPr/>
        </p:nvSpPr>
        <p:spPr>
          <a:xfrm>
            <a:off x="5385816" y="2880360"/>
            <a:ext cx="640080" cy="347472"/>
          </a:xfrm>
          <a:prstGeom prst="roundRect">
            <a:avLst>
              <a:gd name="adj" fmla="val 50000"/>
            </a:avLst>
          </a:prstGeom>
          <a:solidFill>
            <a:srgbClr val="D6F1F7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385816" y="28803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B"/>
                </a:solidFill>
              </a:rPr>
              <a:t>M&amp;A</a:t>
            </a:r>
            <a:endParaRPr lang="en-US" sz="1200" dirty="0"/>
          </a:p>
        </p:txBody>
      </p:sp>
      <p:sp>
        <p:nvSpPr>
          <p:cNvPr id="25" name="event-chip"/>
          <p:cNvSpPr/>
          <p:nvPr/>
        </p:nvSpPr>
        <p:spPr>
          <a:xfrm>
            <a:off x="6117336" y="2880360"/>
            <a:ext cx="914400" cy="347472"/>
          </a:xfrm>
          <a:prstGeom prst="roundRect">
            <a:avLst>
              <a:gd name="adj" fmla="val 50000"/>
            </a:avLst>
          </a:prstGeom>
          <a:solidFill>
            <a:srgbClr val="D6F1F7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117336" y="288036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B"/>
                </a:solidFill>
              </a:rPr>
              <a:t>Earnings</a:t>
            </a:r>
            <a:endParaRPr lang="en-US" sz="1200" dirty="0"/>
          </a:p>
        </p:txBody>
      </p:sp>
      <p:sp>
        <p:nvSpPr>
          <p:cNvPr id="27" name="event-chip"/>
          <p:cNvSpPr/>
          <p:nvPr/>
        </p:nvSpPr>
        <p:spPr>
          <a:xfrm>
            <a:off x="4517136" y="3337560"/>
            <a:ext cx="1051560" cy="347472"/>
          </a:xfrm>
          <a:prstGeom prst="roundRect">
            <a:avLst>
              <a:gd name="adj" fmla="val 50000"/>
            </a:avLst>
          </a:prstGeom>
          <a:solidFill>
            <a:srgbClr val="D6F1F7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517136" y="3337560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B"/>
                </a:solidFill>
              </a:rPr>
              <a:t>Regulatory</a:t>
            </a:r>
            <a:endParaRPr lang="en-US" sz="1200" dirty="0"/>
          </a:p>
        </p:txBody>
      </p:sp>
      <p:sp>
        <p:nvSpPr>
          <p:cNvPr id="29" name="event-chip"/>
          <p:cNvSpPr/>
          <p:nvPr/>
        </p:nvSpPr>
        <p:spPr>
          <a:xfrm>
            <a:off x="5660136" y="3337560"/>
            <a:ext cx="868680" cy="347472"/>
          </a:xfrm>
          <a:prstGeom prst="roundRect">
            <a:avLst>
              <a:gd name="adj" fmla="val 50000"/>
            </a:avLst>
          </a:prstGeom>
          <a:solidFill>
            <a:srgbClr val="D6F1F7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660136" y="33375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B"/>
                </a:solidFill>
              </a:rPr>
              <a:t>Liquidity</a:t>
            </a:r>
            <a:endParaRPr lang="en-US" sz="1200" dirty="0"/>
          </a:p>
        </p:txBody>
      </p:sp>
      <p:sp>
        <p:nvSpPr>
          <p:cNvPr id="31" name="event-chip"/>
          <p:cNvSpPr/>
          <p:nvPr/>
        </p:nvSpPr>
        <p:spPr>
          <a:xfrm>
            <a:off x="6620256" y="3337560"/>
            <a:ext cx="731520" cy="347472"/>
          </a:xfrm>
          <a:prstGeom prst="roundRect">
            <a:avLst>
              <a:gd name="adj" fmla="val 50000"/>
            </a:avLst>
          </a:prstGeom>
          <a:solidFill>
            <a:srgbClr val="D6F1F7"/>
          </a:solidFill>
          <a:ln w="9525">
            <a:solidFill>
              <a:srgbClr val="0891B2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6620256" y="33375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3B"/>
                </a:solidFill>
              </a:rPr>
              <a:t>Cyber</a:t>
            </a:r>
            <a:endParaRPr lang="en-US" sz="1200" dirty="0"/>
          </a:p>
        </p:txBody>
      </p:sp>
      <p:sp>
        <p:nvSpPr>
          <p:cNvPr id="33" name="impact"/>
          <p:cNvSpPr/>
          <p:nvPr/>
        </p:nvSpPr>
        <p:spPr>
          <a:xfrm>
            <a:off x="8028432" y="1554480"/>
            <a:ext cx="361188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34" name="icon-circle"/>
          <p:cNvSpPr/>
          <p:nvPr/>
        </p:nvSpPr>
        <p:spPr>
          <a:xfrm>
            <a:off x="8257032" y="1737360"/>
            <a:ext cx="457200" cy="45720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35" name="Image 2" descr="bol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856232"/>
            <a:ext cx="219456" cy="219456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8897112" y="1828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891B2"/>
                </a:solidFill>
              </a:rPr>
              <a:t>IMPACT 1–10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8257032" y="2377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A3B"/>
                </a:solidFill>
              </a:rPr>
              <a:t>Keyword-based severity proxy</a:t>
            </a:r>
            <a:endParaRPr lang="en-US" sz="1600" dirty="0"/>
          </a:p>
        </p:txBody>
      </p:sp>
      <p:sp>
        <p:nvSpPr>
          <p:cNvPr id="38" name="impact-cell"/>
          <p:cNvSpPr/>
          <p:nvPr/>
        </p:nvSpPr>
        <p:spPr>
          <a:xfrm>
            <a:off x="8257032" y="2880360"/>
            <a:ext cx="266090" cy="32004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9" name="impact-cell"/>
          <p:cNvSpPr/>
          <p:nvPr/>
        </p:nvSpPr>
        <p:spPr>
          <a:xfrm>
            <a:off x="8577986" y="2880360"/>
            <a:ext cx="266090" cy="320040"/>
          </a:xfrm>
          <a:prstGeom prst="rect">
            <a:avLst/>
          </a:prstGeom>
          <a:solidFill>
            <a:srgbClr val="4FD0A8"/>
          </a:solidFill>
          <a:ln w="12700">
            <a:solidFill>
              <a:srgbClr val="4FD0A8"/>
            </a:solidFill>
            <a:prstDash val="solid"/>
          </a:ln>
        </p:spPr>
      </p:sp>
      <p:sp>
        <p:nvSpPr>
          <p:cNvPr id="40" name="impact-cell"/>
          <p:cNvSpPr/>
          <p:nvPr/>
        </p:nvSpPr>
        <p:spPr>
          <a:xfrm>
            <a:off x="8898941" y="2880360"/>
            <a:ext cx="266090" cy="320040"/>
          </a:xfrm>
          <a:prstGeom prst="rect">
            <a:avLst/>
          </a:prstGeom>
          <a:solidFill>
            <a:srgbClr val="8CCB86"/>
          </a:solidFill>
          <a:ln w="12700">
            <a:solidFill>
              <a:srgbClr val="8CCB86"/>
            </a:solidFill>
            <a:prstDash val="solid"/>
          </a:ln>
        </p:spPr>
      </p:sp>
      <p:sp>
        <p:nvSpPr>
          <p:cNvPr id="41" name="impact-cell"/>
          <p:cNvSpPr/>
          <p:nvPr/>
        </p:nvSpPr>
        <p:spPr>
          <a:xfrm>
            <a:off x="9219895" y="2880360"/>
            <a:ext cx="266090" cy="320040"/>
          </a:xfrm>
          <a:prstGeom prst="rect">
            <a:avLst/>
          </a:prstGeom>
          <a:solidFill>
            <a:srgbClr val="C4C464"/>
          </a:solidFill>
          <a:ln w="12700">
            <a:solidFill>
              <a:srgbClr val="C4C464"/>
            </a:solidFill>
            <a:prstDash val="solid"/>
          </a:ln>
        </p:spPr>
      </p:sp>
      <p:sp>
        <p:nvSpPr>
          <p:cNvPr id="42" name="impact-cell"/>
          <p:cNvSpPr/>
          <p:nvPr/>
        </p:nvSpPr>
        <p:spPr>
          <a:xfrm>
            <a:off x="9540850" y="2880360"/>
            <a:ext cx="266090" cy="320040"/>
          </a:xfrm>
          <a:prstGeom prst="rect">
            <a:avLst/>
          </a:prstGeom>
          <a:solidFill>
            <a:srgbClr val="F5B544"/>
          </a:solidFill>
          <a:ln w="12700">
            <a:solidFill>
              <a:srgbClr val="F5B544"/>
            </a:solidFill>
            <a:prstDash val="solid"/>
          </a:ln>
        </p:spPr>
      </p:sp>
      <p:sp>
        <p:nvSpPr>
          <p:cNvPr id="43" name="impact-cell"/>
          <p:cNvSpPr/>
          <p:nvPr/>
        </p:nvSpPr>
        <p:spPr>
          <a:xfrm>
            <a:off x="9861804" y="2880360"/>
            <a:ext cx="266090" cy="320040"/>
          </a:xfrm>
          <a:prstGeom prst="rect">
            <a:avLst/>
          </a:prstGeom>
          <a:solidFill>
            <a:srgbClr val="F5A03E"/>
          </a:solidFill>
          <a:ln w="12700">
            <a:solidFill>
              <a:srgbClr val="F5A03E"/>
            </a:solidFill>
            <a:prstDash val="solid"/>
          </a:ln>
        </p:spPr>
      </p:sp>
      <p:sp>
        <p:nvSpPr>
          <p:cNvPr id="44" name="impact-cell"/>
          <p:cNvSpPr/>
          <p:nvPr/>
        </p:nvSpPr>
        <p:spPr>
          <a:xfrm>
            <a:off x="10182758" y="2880360"/>
            <a:ext cx="266090" cy="320040"/>
          </a:xfrm>
          <a:prstGeom prst="rect">
            <a:avLst/>
          </a:prstGeom>
          <a:solidFill>
            <a:srgbClr val="F58C3C"/>
          </a:solidFill>
          <a:ln w="12700">
            <a:solidFill>
              <a:srgbClr val="F58C3C"/>
            </a:solidFill>
            <a:prstDash val="solid"/>
          </a:ln>
        </p:spPr>
      </p:sp>
      <p:sp>
        <p:nvSpPr>
          <p:cNvPr id="45" name="impact-cell"/>
          <p:cNvSpPr/>
          <p:nvPr/>
        </p:nvSpPr>
        <p:spPr>
          <a:xfrm>
            <a:off x="10503713" y="2880360"/>
            <a:ext cx="266090" cy="320040"/>
          </a:xfrm>
          <a:prstGeom prst="rect">
            <a:avLst/>
          </a:prstGeom>
          <a:solidFill>
            <a:srgbClr val="F27850"/>
          </a:solidFill>
          <a:ln w="12700">
            <a:solidFill>
              <a:srgbClr val="F27850"/>
            </a:solidFill>
            <a:prstDash val="solid"/>
          </a:ln>
        </p:spPr>
      </p:sp>
      <p:sp>
        <p:nvSpPr>
          <p:cNvPr id="46" name="impact-cell"/>
          <p:cNvSpPr/>
          <p:nvPr/>
        </p:nvSpPr>
        <p:spPr>
          <a:xfrm>
            <a:off x="10824667" y="2880360"/>
            <a:ext cx="266090" cy="320040"/>
          </a:xfrm>
          <a:prstGeom prst="rect">
            <a:avLst/>
          </a:prstGeom>
          <a:solidFill>
            <a:srgbClr val="F2666B"/>
          </a:solidFill>
          <a:ln w="12700">
            <a:solidFill>
              <a:srgbClr val="F2666B"/>
            </a:solidFill>
            <a:prstDash val="solid"/>
          </a:ln>
        </p:spPr>
      </p:sp>
      <p:sp>
        <p:nvSpPr>
          <p:cNvPr id="47" name="impact-cell"/>
          <p:cNvSpPr/>
          <p:nvPr/>
        </p:nvSpPr>
        <p:spPr>
          <a:xfrm>
            <a:off x="11145622" y="2880360"/>
            <a:ext cx="266090" cy="32004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8257032" y="34290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F6B7A"/>
                </a:solidFill>
              </a:rPr>
              <a:t>Not a calibrated forecast; signals map to candidate stress scenarios.</a:t>
            </a:r>
            <a:endParaRPr lang="en-US" sz="1400" dirty="0"/>
          </a:p>
        </p:txBody>
      </p:sp>
      <p:sp>
        <p:nvSpPr>
          <p:cNvPr id="49" name="trace-example"/>
          <p:cNvSpPr/>
          <p:nvPr/>
        </p:nvSpPr>
        <p:spPr>
          <a:xfrm>
            <a:off x="548640" y="4297680"/>
            <a:ext cx="6949440" cy="1920240"/>
          </a:xfrm>
          <a:prstGeom prst="roundRect">
            <a:avLst>
              <a:gd name="adj" fmla="val 3810"/>
            </a:avLst>
          </a:prstGeom>
          <a:solidFill>
            <a:srgbClr val="DDF3F8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82296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</a:rPr>
              <a:t>ILLUSTRATIVE SIGNAL TRACE</a:t>
            </a:r>
            <a:endParaRPr lang="en-US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822960" y="47548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0B2A3B"/>
                </a:solidFill>
              </a:rPr>
              <a:t>"Regional lender reports rising loan defaults" (synthetic)</a:t>
            </a:r>
            <a:endParaRPr lang="en-US" sz="1500" dirty="0"/>
          </a:p>
        </p:txBody>
      </p:sp>
      <p:sp>
        <p:nvSpPr>
          <p:cNvPr id="52" name="trace-chip"/>
          <p:cNvSpPr/>
          <p:nvPr/>
        </p:nvSpPr>
        <p:spPr>
          <a:xfrm>
            <a:off x="822960" y="53035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BCD9E3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932688" y="5367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F6B7A"/>
                </a:solidFill>
              </a:rPr>
              <a:t>Sentiment</a:t>
            </a:r>
            <a:endParaRPr lang="en-US" sz="1100" dirty="0"/>
          </a:p>
        </p:txBody>
      </p:sp>
      <p:sp>
        <p:nvSpPr>
          <p:cNvPr id="54" name="Text 49"/>
          <p:cNvSpPr txBox="1"/>
          <p:nvPr/>
        </p:nvSpPr>
        <p:spPr>
          <a:xfrm>
            <a:off x="932688" y="55961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</a:rPr>
              <a:t>−0.62</a:t>
            </a:r>
            <a:endParaRPr lang="en-US" sz="1500" dirty="0"/>
          </a:p>
        </p:txBody>
      </p:sp>
      <p:sp>
        <p:nvSpPr>
          <p:cNvPr id="55" name="trace-chip"/>
          <p:cNvSpPr/>
          <p:nvPr/>
        </p:nvSpPr>
        <p:spPr>
          <a:xfrm>
            <a:off x="2468880" y="53035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BCD9E3"/>
            </a:solidFill>
            <a:prstDash val="solid"/>
          </a:ln>
        </p:spPr>
      </p:sp>
      <p:sp>
        <p:nvSpPr>
          <p:cNvPr id="56" name="Text 51"/>
          <p:cNvSpPr txBox="1"/>
          <p:nvPr/>
        </p:nvSpPr>
        <p:spPr>
          <a:xfrm>
            <a:off x="2578608" y="5367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F6B7A"/>
                </a:solidFill>
              </a:rPr>
              <a:t>Event</a:t>
            </a:r>
            <a:endParaRPr lang="en-US" sz="1100" dirty="0"/>
          </a:p>
        </p:txBody>
      </p:sp>
      <p:sp>
        <p:nvSpPr>
          <p:cNvPr id="57" name="Text 52"/>
          <p:cNvSpPr txBox="1"/>
          <p:nvPr/>
        </p:nvSpPr>
        <p:spPr>
          <a:xfrm>
            <a:off x="2578608" y="55961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A3B"/>
                </a:solidFill>
              </a:rPr>
              <a:t>Credit</a:t>
            </a:r>
            <a:endParaRPr lang="en-US" sz="1500" dirty="0"/>
          </a:p>
        </p:txBody>
      </p:sp>
      <p:sp>
        <p:nvSpPr>
          <p:cNvPr id="58" name="trace-chip"/>
          <p:cNvSpPr/>
          <p:nvPr/>
        </p:nvSpPr>
        <p:spPr>
          <a:xfrm>
            <a:off x="4114800" y="53035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BCD9E3"/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4224528" y="5367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F6B7A"/>
                </a:solidFill>
              </a:rPr>
              <a:t>Impact</a:t>
            </a:r>
            <a:endParaRPr lang="en-US" sz="1100" dirty="0"/>
          </a:p>
        </p:txBody>
      </p:sp>
      <p:sp>
        <p:nvSpPr>
          <p:cNvPr id="60" name="Text 55"/>
          <p:cNvSpPr txBox="1"/>
          <p:nvPr/>
        </p:nvSpPr>
        <p:spPr>
          <a:xfrm>
            <a:off x="4224528" y="55961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A3B"/>
                </a:solidFill>
              </a:rPr>
              <a:t>8 / 10</a:t>
            </a:r>
            <a:endParaRPr lang="en-US" sz="1500" dirty="0"/>
          </a:p>
        </p:txBody>
      </p:sp>
      <p:sp>
        <p:nvSpPr>
          <p:cNvPr id="61" name="trace-chip"/>
          <p:cNvSpPr/>
          <p:nvPr/>
        </p:nvSpPr>
        <p:spPr>
          <a:xfrm>
            <a:off x="5760720" y="5303520"/>
            <a:ext cx="14630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BCD9E3"/>
            </a:solidFill>
            <a:prstDash val="solid"/>
          </a:ln>
        </p:spPr>
      </p:sp>
      <p:sp>
        <p:nvSpPr>
          <p:cNvPr id="62" name="Text 57"/>
          <p:cNvSpPr txBox="1"/>
          <p:nvPr/>
        </p:nvSpPr>
        <p:spPr>
          <a:xfrm>
            <a:off x="5870448" y="53675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F6B7A"/>
                </a:solidFill>
              </a:rPr>
              <a:t>Scenario</a:t>
            </a:r>
            <a:endParaRPr lang="en-US" sz="1100" dirty="0"/>
          </a:p>
        </p:txBody>
      </p:sp>
      <p:sp>
        <p:nvSpPr>
          <p:cNvPr id="63" name="Text 58"/>
          <p:cNvSpPr txBox="1"/>
          <p:nvPr/>
        </p:nvSpPr>
        <p:spPr>
          <a:xfrm>
            <a:off x="5870448" y="559612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2A3B"/>
                </a:solidFill>
              </a:rPr>
              <a:t>Credit crisis</a:t>
            </a:r>
            <a:endParaRPr lang="en-US" sz="1500" dirty="0"/>
          </a:p>
        </p:txBody>
      </p:sp>
      <p:sp>
        <p:nvSpPr>
          <p:cNvPr id="64" name="limitation"/>
          <p:cNvSpPr/>
          <p:nvPr/>
        </p:nvSpPr>
        <p:spPr>
          <a:xfrm>
            <a:off x="7726680" y="4297680"/>
            <a:ext cx="3913632" cy="1920240"/>
          </a:xfrm>
          <a:prstGeom prst="roundRect">
            <a:avLst>
              <a:gd name="adj" fmla="val 3810"/>
            </a:avLst>
          </a:prstGeom>
          <a:solidFill>
            <a:srgbClr val="FEF3C7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65" name="limitation-outline"/>
          <p:cNvSpPr/>
          <p:nvPr/>
        </p:nvSpPr>
        <p:spPr>
          <a:xfrm>
            <a:off x="7726680" y="4297680"/>
            <a:ext cx="3913632" cy="1920240"/>
          </a:xfrm>
          <a:prstGeom prst="roundRect">
            <a:avLst>
              <a:gd name="adj" fmla="val 381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66" name="Image 3" descr="warn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4498848"/>
            <a:ext cx="320040" cy="320040"/>
          </a:xfrm>
          <a:prstGeom prst="rect">
            <a:avLst/>
          </a:prstGeom>
        </p:spPr>
      </p:pic>
      <p:sp>
        <p:nvSpPr>
          <p:cNvPr id="67" name="Text 61"/>
          <p:cNvSpPr txBox="1"/>
          <p:nvPr/>
        </p:nvSpPr>
        <p:spPr>
          <a:xfrm>
            <a:off x="8458200" y="4544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45309"/>
                </a:solidFill>
              </a:rPr>
              <a:t>LIMITATION</a:t>
            </a:r>
            <a:endParaRPr lang="en-US" sz="1300" dirty="0"/>
          </a:p>
        </p:txBody>
      </p:sp>
      <p:sp>
        <p:nvSpPr>
          <p:cNvPr id="68" name="Text 62"/>
          <p:cNvSpPr txBox="1"/>
          <p:nvPr/>
        </p:nvSpPr>
        <p:spPr>
          <a:xfrm>
            <a:off x="8001000" y="493776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A3B"/>
                </a:solidFill>
              </a:rPr>
              <a:t>Model availability is surfaced in each result. The fallback enables offline demos but is not a substitute for validated financial NLP.</a:t>
            </a:r>
            <a:endParaRPr lang="en-US" sz="1400" dirty="0"/>
          </a:p>
        </p:txBody>
      </p:sp>
      <p:sp>
        <p:nvSpPr>
          <p:cNvPr id="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F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38F5F037-73A8-4EF4-AF69-7036720A6E45}"/>
              </a:ext>
            </a:extLst>
          </p:cNvPr>
          <p:cNvSpPr/>
          <p:nvPr/>
        </p:nvSpPr>
        <p:spPr>
          <a:xfrm>
            <a:off x="410547" y="307910"/>
            <a:ext cx="3064173" cy="332170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2A3B"/>
                </a:solidFill>
              </a:rPr>
              <a:t>Stress lab: quantify scenario exposure</a:t>
            </a:r>
            <a:endParaRPr lang="en-US" sz="3400" dirty="0"/>
          </a:p>
        </p:txBody>
      </p:sp>
      <p:sp>
        <p:nvSpPr>
          <p:cNvPr id="3" name="lab-PORTFOLIO"/>
          <p:cNvSpPr/>
          <p:nvPr/>
        </p:nvSpPr>
        <p:spPr>
          <a:xfrm>
            <a:off x="548640" y="155448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lay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205099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7099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</a:rPr>
              <a:t>PORTFOLIO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463040" y="19842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A3B"/>
                </a:solidFill>
              </a:rPr>
              <a:t>12 fictional holdings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2331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6B7A"/>
                </a:solidFill>
              </a:rPr>
              <a:t>Equities · Bonds · Loans · Derivatives</a:t>
            </a:r>
            <a:endParaRPr lang="en-US" sz="1200" dirty="0"/>
          </a:p>
        </p:txBody>
      </p:sp>
      <p:sp>
        <p:nvSpPr>
          <p:cNvPr id="9" name="lab-SCENARIOS"/>
          <p:cNvSpPr/>
          <p:nvPr/>
        </p:nvSpPr>
        <p:spPr>
          <a:xfrm>
            <a:off x="548640" y="292608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10" name="icon-circle"/>
          <p:cNvSpPr/>
          <p:nvPr/>
        </p:nvSpPr>
        <p:spPr>
          <a:xfrm>
            <a:off x="777240" y="3291840"/>
            <a:ext cx="502920" cy="50292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1" name="Image 1" descr="slider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34225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0815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</a:rPr>
              <a:t>SCENARIOS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355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A3B"/>
                </a:solidFill>
              </a:rPr>
              <a:t>5 configurable shocks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463040" y="3703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6B7A"/>
                </a:solidFill>
              </a:rPr>
              <a:t>Credit crisis · Rate shock · Geopolitical · Liquidity · Rebound</a:t>
            </a:r>
            <a:endParaRPr lang="en-US" sz="1200" dirty="0"/>
          </a:p>
        </p:txBody>
      </p:sp>
      <p:sp>
        <p:nvSpPr>
          <p:cNvPr id="15" name="lab-OUTPUTS"/>
          <p:cNvSpPr/>
          <p:nvPr/>
        </p:nvSpPr>
        <p:spPr>
          <a:xfrm>
            <a:off x="548640" y="429768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16" name="icon-circle"/>
          <p:cNvSpPr/>
          <p:nvPr/>
        </p:nvSpPr>
        <p:spPr>
          <a:xfrm>
            <a:off x="777240" y="4663440"/>
            <a:ext cx="502920" cy="50292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7" name="Image 2" descr="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79419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463040" y="44531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891B2"/>
                </a:solidFill>
              </a:rPr>
              <a:t>OUTPUTS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1463040" y="47274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A3B"/>
                </a:solidFill>
              </a:rPr>
              <a:t>Before/after value and P&amp;L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1463040" y="5074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6B7A"/>
                </a:solidFill>
              </a:rPr>
              <a:t>Asset-class attribution · History</a:t>
            </a:r>
            <a:endParaRPr lang="en-US" sz="1200" dirty="0"/>
          </a:p>
        </p:txBody>
      </p:sp>
      <p:sp>
        <p:nvSpPr>
          <p:cNvPr id="21" name="chart-card"/>
          <p:cNvSpPr/>
          <p:nvPr/>
        </p:nvSpPr>
        <p:spPr>
          <a:xfrm>
            <a:off x="5806440" y="1554480"/>
            <a:ext cx="5833872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08076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2A3B"/>
                </a:solidFill>
              </a:rPr>
              <a:t>Illustrative P&amp;L by asset class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080760" y="20299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F6B7A"/>
                </a:solidFill>
              </a:rPr>
              <a:t>Credit-crisis scenario at severity 1.0 · illustrative values, not model output</a:t>
            </a:r>
            <a:endParaRPr lang="en-US" sz="110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5989320" y="2377440"/>
          <a:ext cx="54864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5" name="method"/>
          <p:cNvSpPr/>
          <p:nvPr/>
        </p:nvSpPr>
        <p:spPr>
          <a:xfrm>
            <a:off x="548640" y="5669280"/>
            <a:ext cx="11091672" cy="594360"/>
          </a:xfrm>
          <a:prstGeom prst="roundRect">
            <a:avLst>
              <a:gd name="adj" fmla="val 12308"/>
            </a:avLst>
          </a:prstGeom>
          <a:solidFill>
            <a:srgbClr val="DDF3F8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822960" y="566928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2A3B"/>
                </a:solidFill>
              </a:rPr>
              <a:t>Illustrative class-level shocks are multiplied by a user-selected severity. Positions stay static; derivatives use simplified MTM proxies.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F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CADF64D-740B-4CE8-8D3D-8BD2692D7766}"/>
              </a:ext>
            </a:extLst>
          </p:cNvPr>
          <p:cNvSpPr/>
          <p:nvPr/>
        </p:nvSpPr>
        <p:spPr>
          <a:xfrm>
            <a:off x="363894" y="205273"/>
            <a:ext cx="3079102" cy="41651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0B2A3B"/>
                </a:solidFill>
              </a:rPr>
              <a:t>Validation, limitations &amp; next steps</a:t>
            </a:r>
            <a:endParaRPr lang="en-US" sz="3400" dirty="0"/>
          </a:p>
        </p:txBody>
      </p:sp>
      <p:sp>
        <p:nvSpPr>
          <p:cNvPr id="3" name="col-VALIDATION"/>
          <p:cNvSpPr/>
          <p:nvPr/>
        </p:nvSpPr>
        <p:spPr>
          <a:xfrm>
            <a:off x="548640" y="15544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4" name="icon-circle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5" name="Image 0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856232"/>
            <a:ext cx="219456" cy="2194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847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891B2"/>
                </a:solidFill>
              </a:rPr>
              <a:t>VALIDATION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F6B7A"/>
                </a:solidFill>
              </a:rPr>
              <a:t>Automated tests cover: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83464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NLP output bounds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Event labels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Portfolio valuation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Zero-severity invariance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Risk-signal mapping</a:t>
            </a:r>
            <a:endParaRPr lang="en-US" sz="1500" dirty="0"/>
          </a:p>
        </p:txBody>
      </p:sp>
      <p:sp>
        <p:nvSpPr>
          <p:cNvPr id="9" name="col-LIMITATIONS"/>
          <p:cNvSpPr/>
          <p:nvPr/>
        </p:nvSpPr>
        <p:spPr>
          <a:xfrm>
            <a:off x="4288536" y="15544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10" name="Image 1" descr="warn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5424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57216" y="1847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B45309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517136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F6B7A"/>
                </a:solidFill>
              </a:rPr>
              <a:t>Not modeled: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17136" y="2834640"/>
            <a:ext cx="3154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No historical calibration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No dynamic hedging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No transaction costs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No loan recovery modeling</a:t>
            </a:r>
            <a:endParaRPr lang="en-US" sz="15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0B2A3B"/>
                </a:solidFill>
              </a:rPr>
              <a:t>No derivative Greeks or live-data guarantees</a:t>
            </a:r>
            <a:endParaRPr lang="en-US" sz="1500" dirty="0"/>
          </a:p>
        </p:txBody>
      </p:sp>
      <p:sp>
        <p:nvSpPr>
          <p:cNvPr id="14" name="col-ROADMAP"/>
          <p:cNvSpPr/>
          <p:nvPr/>
        </p:nvSpPr>
        <p:spPr>
          <a:xfrm>
            <a:off x="8028432" y="155448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15" name="icon-circle"/>
          <p:cNvSpPr/>
          <p:nvPr/>
        </p:nvSpPr>
        <p:spPr>
          <a:xfrm>
            <a:off x="8257032" y="1737360"/>
            <a:ext cx="457200" cy="457200"/>
          </a:xfrm>
          <a:prstGeom prst="ellipse">
            <a:avLst/>
          </a:prstGeom>
          <a:solidFill>
            <a:srgbClr val="D6F1F7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16" name="Image 2" descr="roa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85623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97112" y="1847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891B2"/>
                </a:solidFill>
              </a:rPr>
              <a:t>ROADMAP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257032" y="24231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F6B7A"/>
                </a:solidFill>
              </a:rPr>
              <a:t>Next steps:</a:t>
            </a:r>
            <a:endParaRPr lang="en-US" sz="1400" dirty="0"/>
          </a:p>
        </p:txBody>
      </p:sp>
      <p:sp>
        <p:nvSpPr>
          <p:cNvPr id="19" name="num"/>
          <p:cNvSpPr/>
          <p:nvPr/>
        </p:nvSpPr>
        <p:spPr>
          <a:xfrm>
            <a:off x="8257032" y="2852928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257032" y="28529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714232" y="2834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A3B"/>
                </a:solidFill>
              </a:rPr>
              <a:t>Calibrate shocks on historical data</a:t>
            </a:r>
            <a:endParaRPr lang="en-US" sz="1400" dirty="0"/>
          </a:p>
        </p:txBody>
      </p:sp>
      <p:sp>
        <p:nvSpPr>
          <p:cNvPr id="22" name="num"/>
          <p:cNvSpPr/>
          <p:nvPr/>
        </p:nvSpPr>
        <p:spPr>
          <a:xfrm>
            <a:off x="8257032" y="3493008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8257032" y="3493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8714232" y="34747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A3B"/>
                </a:solidFill>
              </a:rPr>
              <a:t>Benchmark NLP against labeled data</a:t>
            </a:r>
            <a:endParaRPr lang="en-US" sz="1400" dirty="0"/>
          </a:p>
        </p:txBody>
      </p:sp>
      <p:sp>
        <p:nvSpPr>
          <p:cNvPr id="25" name="num"/>
          <p:cNvSpPr/>
          <p:nvPr/>
        </p:nvSpPr>
        <p:spPr>
          <a:xfrm>
            <a:off x="8257032" y="4133088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8257032" y="4133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8714232" y="41148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A3B"/>
                </a:solidFill>
              </a:rPr>
              <a:t>Add authenticated data vendors</a:t>
            </a:r>
            <a:endParaRPr lang="en-US" sz="1400" dirty="0"/>
          </a:p>
        </p:txBody>
      </p:sp>
      <p:sp>
        <p:nvSpPr>
          <p:cNvPr id="28" name="num"/>
          <p:cNvSpPr/>
          <p:nvPr/>
        </p:nvSpPr>
        <p:spPr>
          <a:xfrm>
            <a:off x="8257032" y="4773168"/>
            <a:ext cx="310896" cy="31089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8257032" y="4773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0" name="Text 25"/>
          <p:cNvSpPr txBox="1"/>
          <p:nvPr/>
        </p:nvSpPr>
        <p:spPr>
          <a:xfrm>
            <a:off x="8714232" y="47548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2A3B"/>
                </a:solidFill>
              </a:rPr>
              <a:t>Add model monitoring and audit controls</a:t>
            </a:r>
            <a:endParaRPr lang="en-US" sz="1400" dirty="0"/>
          </a:p>
        </p:txBody>
      </p:sp>
      <p:sp>
        <p:nvSpPr>
          <p:cNvPr id="31" name="takeaway-strip"/>
          <p:cNvSpPr/>
          <p:nvPr/>
        </p:nvSpPr>
        <p:spPr>
          <a:xfrm>
            <a:off x="548640" y="5577840"/>
            <a:ext cx="11091672" cy="640080"/>
          </a:xfrm>
          <a:prstGeom prst="roundRect">
            <a:avLst>
              <a:gd name="adj" fmla="val 11429"/>
            </a:avLst>
          </a:prstGeom>
          <a:solidFill>
            <a:srgbClr val="DDF3F8"/>
          </a:solidFill>
          <a:ln w="9525">
            <a:solidFill>
              <a:srgbClr val="BFE3EC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822960" y="557784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891B2"/>
                </a:solidFill>
              </a:rPr>
              <a:t>DEMO TAKEAWAY  ·  </a:t>
            </a:r>
            <a:r>
              <a:rPr lang="en-US" sz="1600" b="1" dirty="0">
                <a:solidFill>
                  <a:srgbClr val="0B2A3B"/>
                </a:solidFill>
              </a:rPr>
              <a:t>Traceable text signal → configurable scenario → transparent portfolio impact</a:t>
            </a:r>
            <a:endParaRPr lang="en-US" sz="16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0080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4F6B7A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4ED2199-03F0-924E-A91E-5B03D07D1CF6}"/>
              </a:ext>
            </a:extLst>
          </p:cNvPr>
          <p:cNvSpPr/>
          <p:nvPr/>
        </p:nvSpPr>
        <p:spPr>
          <a:xfrm>
            <a:off x="447869" y="177282"/>
            <a:ext cx="3041780" cy="46279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5F3FC"/>
                </a:solidFill>
              </a:rPr>
              <a:t>DEMO TAKEAWAY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</a:rPr>
              <a:t>Inspectable risk intelligence, end to end</a:t>
            </a:r>
            <a:endParaRPr lang="en-US" sz="4400" dirty="0"/>
          </a:p>
        </p:txBody>
      </p:sp>
      <p:sp>
        <p:nvSpPr>
          <p:cNvPr id="4" name="takeaway-0"/>
          <p:cNvSpPr/>
          <p:nvPr/>
        </p:nvSpPr>
        <p:spPr>
          <a:xfrm>
            <a:off x="640080" y="29260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0B5F78"/>
          </a:solidFill>
          <a:ln w="9525">
            <a:solidFill>
              <a:srgbClr val="2A8DA8"/>
            </a:solidFill>
            <a:prstDash val="solid"/>
          </a:ln>
        </p:spPr>
      </p:sp>
      <p:sp>
        <p:nvSpPr>
          <p:cNvPr id="5" name="icon-circle"/>
          <p:cNvSpPr/>
          <p:nvPr/>
        </p:nvSpPr>
        <p:spPr>
          <a:xfrm>
            <a:off x="914400" y="3200400"/>
            <a:ext cx="594360" cy="594360"/>
          </a:xfrm>
          <a:prstGeom prst="ellipse">
            <a:avLst/>
          </a:prstGeom>
          <a:solidFill>
            <a:srgbClr val="0A4F66"/>
          </a:solidFill>
          <a:ln w="12700">
            <a:solidFill>
              <a:srgbClr val="A5F3FC"/>
            </a:solidFill>
            <a:prstDash val="solid"/>
          </a:ln>
        </p:spPr>
      </p:sp>
      <p:pic>
        <p:nvPicPr>
          <p:cNvPr id="6" name="Image 0" descr="new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335493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Traceable text signal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FF7"/>
                </a:solidFill>
              </a:rPr>
              <a:t>Sentiment, event type and impact for every headline.</a:t>
            </a:r>
            <a:endParaRPr lang="en-US" sz="1400" dirty="0"/>
          </a:p>
        </p:txBody>
      </p:sp>
      <p:pic>
        <p:nvPicPr>
          <p:cNvPr id="9" name="Image 1" descr="th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48" y="3931920"/>
            <a:ext cx="365760" cy="365760"/>
          </a:xfrm>
          <a:prstGeom prst="rect">
            <a:avLst/>
          </a:prstGeom>
        </p:spPr>
      </p:pic>
      <p:sp>
        <p:nvSpPr>
          <p:cNvPr id="10" name="takeaway-1"/>
          <p:cNvSpPr/>
          <p:nvPr/>
        </p:nvSpPr>
        <p:spPr>
          <a:xfrm>
            <a:off x="4480560" y="29260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0B5F78"/>
          </a:solidFill>
          <a:ln w="9525">
            <a:solidFill>
              <a:srgbClr val="2A8DA8"/>
            </a:solidFill>
            <a:prstDash val="solid"/>
          </a:ln>
        </p:spPr>
      </p:sp>
      <p:sp>
        <p:nvSpPr>
          <p:cNvPr id="11" name="icon-circle"/>
          <p:cNvSpPr/>
          <p:nvPr/>
        </p:nvSpPr>
        <p:spPr>
          <a:xfrm>
            <a:off x="4754880" y="3200400"/>
            <a:ext cx="594360" cy="594360"/>
          </a:xfrm>
          <a:prstGeom prst="ellipse">
            <a:avLst/>
          </a:prstGeom>
          <a:solidFill>
            <a:srgbClr val="0A4F66"/>
          </a:solidFill>
          <a:ln w="12700">
            <a:solidFill>
              <a:srgbClr val="A5F3FC"/>
            </a:solidFill>
            <a:prstDash val="solid"/>
          </a:ln>
        </p:spPr>
      </p:sp>
      <p:pic>
        <p:nvPicPr>
          <p:cNvPr id="12" name="Image 2" descr="slide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414" y="335493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5488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Configurable scenario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475488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FF7"/>
                </a:solidFill>
              </a:rPr>
              <a:t>Class-level shocks scaled by severity.</a:t>
            </a:r>
            <a:endParaRPr lang="en-US" sz="1400" dirty="0"/>
          </a:p>
        </p:txBody>
      </p:sp>
      <p:pic>
        <p:nvPicPr>
          <p:cNvPr id="15" name="Image 3" descr="th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28" y="3931920"/>
            <a:ext cx="365760" cy="365760"/>
          </a:xfrm>
          <a:prstGeom prst="rect">
            <a:avLst/>
          </a:prstGeom>
        </p:spPr>
      </p:pic>
      <p:sp>
        <p:nvSpPr>
          <p:cNvPr id="16" name="takeaway-2"/>
          <p:cNvSpPr/>
          <p:nvPr/>
        </p:nvSpPr>
        <p:spPr>
          <a:xfrm>
            <a:off x="8321040" y="2926080"/>
            <a:ext cx="3383280" cy="2286000"/>
          </a:xfrm>
          <a:prstGeom prst="roundRect">
            <a:avLst>
              <a:gd name="adj" fmla="val 3200"/>
            </a:avLst>
          </a:prstGeom>
          <a:solidFill>
            <a:srgbClr val="0B5F78"/>
          </a:solidFill>
          <a:ln w="9525">
            <a:solidFill>
              <a:srgbClr val="2A8DA8"/>
            </a:solidFill>
            <a:prstDash val="solid"/>
          </a:ln>
        </p:spPr>
      </p:sp>
      <p:sp>
        <p:nvSpPr>
          <p:cNvPr id="17" name="icon-circle"/>
          <p:cNvSpPr/>
          <p:nvPr/>
        </p:nvSpPr>
        <p:spPr>
          <a:xfrm>
            <a:off x="8595360" y="3200400"/>
            <a:ext cx="594360" cy="594360"/>
          </a:xfrm>
          <a:prstGeom prst="ellipse">
            <a:avLst/>
          </a:prstGeom>
          <a:solidFill>
            <a:srgbClr val="0A4F66"/>
          </a:solidFill>
          <a:ln w="12700">
            <a:solidFill>
              <a:srgbClr val="A5F3FC"/>
            </a:solidFill>
            <a:prstDash val="solid"/>
          </a:ln>
        </p:spPr>
      </p:sp>
      <p:pic>
        <p:nvPicPr>
          <p:cNvPr id="18" name="Image 4" descr="char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9894" y="3354934"/>
            <a:ext cx="285293" cy="285293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595360" y="3977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Transparent portfolio impact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8595360" y="4434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FF7"/>
                </a:solidFill>
              </a:rPr>
              <a:t>Before/after P&amp;L with asset-class attribution.</a:t>
            </a:r>
            <a:endParaRPr lang="en-US" sz="1400" dirty="0"/>
          </a:p>
        </p:txBody>
      </p:sp>
      <p:sp>
        <p:nvSpPr>
          <p:cNvPr id="21" name="Text 14"/>
          <p:cNvSpPr txBox="1"/>
          <p:nvPr/>
        </p:nvSpPr>
        <p:spPr>
          <a:xfrm>
            <a:off x="640080" y="6035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A5F3FC"/>
                </a:solidFill>
              </a:rPr>
              <a:t>DEMO DATA AND POSITIONS ARE SYNTHETIC  ·  NOT INVESTMENT ADVICE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iskLens">
  <a:themeElements>
    <a:clrScheme name="RiskLens">
      <a:dk1>
        <a:srgbClr val="0B2A3B"/>
      </a:dk1>
      <a:lt1>
        <a:srgbClr val="FFFFFF"/>
      </a:lt1>
      <a:dk2>
        <a:srgbClr val="0E7490"/>
      </a:dk2>
      <a:lt2>
        <a:srgbClr val="F1FAFC"/>
      </a:lt2>
      <a:accent1>
        <a:srgbClr val="0891B2"/>
      </a:accent1>
      <a:accent2>
        <a:srgbClr val="F5B544"/>
      </a:accent2>
      <a:accent3>
        <a:srgbClr val="F2666B"/>
      </a:accent3>
      <a:accent4>
        <a:srgbClr val="60A5FA"/>
      </a:accent4>
      <a:accent5>
        <a:srgbClr val="A78BFA"/>
      </a:accent5>
      <a:accent6>
        <a:srgbClr val="94A3B8"/>
      </a:accent6>
      <a:hlink>
        <a:srgbClr val="2DD4BF"/>
      </a:hlink>
      <a:folHlink>
        <a:srgbClr val="94A3B8"/>
      </a:folHlink>
    </a:clrScheme>
    <a:fontScheme name="RiskLe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908</Words>
  <Application>Microsoft Office PowerPoint</Application>
  <PresentationFormat>Widescreen</PresentationFormat>
  <Paragraphs>192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RiskLens</vt:lpstr>
      <vt:lpstr>PowerPoint Presentation</vt:lpstr>
      <vt:lpstr>Why RiskLens: from unstructured text to decisions</vt:lpstr>
      <vt:lpstr>The workflow is designed to be inspectable</vt:lpstr>
      <vt:lpstr>Architecture: local-first, modular, reproducible</vt:lpstr>
      <vt:lpstr>NLP: useful signals, explicit limitations</vt:lpstr>
      <vt:lpstr>Stress lab: quantify scenario exposure</vt:lpstr>
      <vt:lpstr>Validation, limitations &amp; next steps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RiskLens: AI-powered Financial Risk Intelligence &amp; Portfolio Stress Testing</dc:title>
  <dc:subject>PptxGenJS Presentation</dc:subject>
  <dc:creator>RiskLens</dc:creator>
  <cp:lastModifiedBy>Nirmit Chaurasia</cp:lastModifiedBy>
  <cp:revision>2</cp:revision>
  <dcterms:created xsi:type="dcterms:W3CDTF">2026-10-11T08:16:55Z</dcterms:created>
  <dcterms:modified xsi:type="dcterms:W3CDTF">2026-10-11T08:23:49Z</dcterms:modified>
</cp:coreProperties>
</file>